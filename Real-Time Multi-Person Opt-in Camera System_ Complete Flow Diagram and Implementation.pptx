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xsJiQ9R/CXHVKgha3pWBD4tKu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178844" y="1321594"/>
            <a:ext cx="571500" cy="357188"/>
          </a:xfrm>
          <a:prstGeom prst="rect">
            <a:avLst/>
          </a:prstGeom>
          <a:solidFill>
            <a:srgbClr val="00D9FF"/>
          </a:solidFill>
          <a:ln cap="flat" cmpd="sng" w="182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178844" y="1321594"/>
            <a:ext cx="5715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UWB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453878" y="1893094"/>
            <a:ext cx="21431" cy="28575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178844" y="2393156"/>
            <a:ext cx="571500" cy="357188"/>
          </a:xfrm>
          <a:prstGeom prst="rect">
            <a:avLst/>
          </a:prstGeom>
          <a:solidFill>
            <a:srgbClr val="00D9FF"/>
          </a:solidFill>
          <a:ln cap="flat" cmpd="sng" w="182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178844" y="2393156"/>
            <a:ext cx="5715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453878" y="2964656"/>
            <a:ext cx="21431" cy="28575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178844" y="3464719"/>
            <a:ext cx="571500" cy="357188"/>
          </a:xfrm>
          <a:prstGeom prst="rect">
            <a:avLst/>
          </a:prstGeom>
          <a:solidFill>
            <a:srgbClr val="00D9FF"/>
          </a:solidFill>
          <a:ln cap="flat" cmpd="sng" w="182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178844" y="3464719"/>
            <a:ext cx="5715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86313" y="1346597"/>
            <a:ext cx="3786188" cy="144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Real-Time Multi-Person Opt-in Camera System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786313" y="3236816"/>
            <a:ext cx="3786188" cy="56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48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Complete Flow Diagram and Implementation Details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0" y="428625"/>
            <a:ext cx="914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77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Method Summary: Bridging Asynchronous Data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28625" y="1214438"/>
            <a:ext cx="4000500" cy="1030821"/>
          </a:xfrm>
          <a:prstGeom prst="rect">
            <a:avLst/>
          </a:prstGeom>
          <a:solidFill>
            <a:srgbClr val="00D9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28625" y="1214438"/>
            <a:ext cx="28575" cy="1030821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42938" y="1428750"/>
            <a:ext cx="35718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Data Fusion Challenge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2938" y="1710928"/>
            <a:ext cx="35718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Integrating sparse 3 FPS UWB localization with high-rate 30 FPS camera tracklets in real-time.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14875" y="1214438"/>
            <a:ext cx="4000500" cy="1030821"/>
          </a:xfrm>
          <a:prstGeom prst="rect">
            <a:avLst/>
          </a:prstGeom>
          <a:solidFill>
            <a:srgbClr val="00D9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4875" y="1214438"/>
            <a:ext cx="28575" cy="1030821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929188" y="1428750"/>
            <a:ext cx="35718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UKF as Temporal Bridge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929188" y="1710928"/>
            <a:ext cx="35718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Dedicated Unscented Kalman Filter for each UWB tag upsamples to 30 FPS with uncertainty weighting.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28625" y="2531008"/>
            <a:ext cx="4000500" cy="1030821"/>
          </a:xfrm>
          <a:prstGeom prst="rect">
            <a:avLst/>
          </a:prstGeom>
          <a:solidFill>
            <a:srgbClr val="00D9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28625" y="2531008"/>
            <a:ext cx="28575" cy="1030821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2938" y="2745321"/>
            <a:ext cx="35718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Probabilistic Matching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2938" y="3027499"/>
            <a:ext cx="35718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Mahalanobis distance calculates similarity between UKF position and camera observation over sliding window.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14875" y="2531008"/>
            <a:ext cx="4000500" cy="1030821"/>
          </a:xfrm>
          <a:prstGeom prst="rect">
            <a:avLst/>
          </a:prstGeom>
          <a:solidFill>
            <a:srgbClr val="00D9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14875" y="2531008"/>
            <a:ext cx="28575" cy="1030821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929188" y="2745321"/>
            <a:ext cx="35718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Optimal Assignment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929188" y="3027499"/>
            <a:ext cx="35718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Linear Assignment Problem solver finds best one-to-one match between all UWB tags and camera tracklets.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0" y="3990454"/>
            <a:ext cx="91440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510275" wrap="square" tIns="0">
            <a:spAutoFit/>
          </a:bodyPr>
          <a:lstStyle/>
          <a:p>
            <a:pPr indent="0" lvl="0" marL="0" marR="0" rtl="0" algn="ctr">
              <a:lnSpc>
                <a:spcPct val="191846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The system achieves robust, real-time person identification by decoupling high-rate tracking (UKF at 30 FPS) from lower-rate identification (LAP at 10 FPS), optimizing both latency and stability.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2087705" y="285750"/>
            <a:ext cx="49685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77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Complete System Flow Diagram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8249" y="650176"/>
            <a:ext cx="796775" cy="335029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0" y="4286250"/>
            <a:ext cx="91440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510275" wrap="square" tIns="0">
            <a:spAutoFit/>
          </a:bodyPr>
          <a:lstStyle/>
          <a:p>
            <a:pPr indent="0" lvl="0" marL="0" marR="0" rtl="0" algn="ctr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Real-time inference pipeline executed every frame (30 FPS). Data flows from asynchronous sources through multi-person tracking and trajectory matching to final person identification (10 FPS).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0" y="285750"/>
            <a:ext cx="914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77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Implementation: Multi-Person Tracker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28625" y="1000125"/>
            <a:ext cx="4000500" cy="260747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Class Overview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28625" y="1403747"/>
            <a:ext cx="4000500" cy="537567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28625" y="1403747"/>
            <a:ext cx="21431" cy="537567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35781" y="1510903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Class Name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35781" y="1694855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MultiPersonTracker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28625" y="2084189"/>
            <a:ext cx="4000500" cy="537567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28625" y="2084189"/>
            <a:ext cx="21431" cy="537567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35781" y="2191345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Core Structure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35781" y="2375297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Dictionary of StreamingUWBUKF2D instances, keyed by UWB ID (101, 102, ...)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28625" y="2764631"/>
            <a:ext cx="4000500" cy="886885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28625" y="2764631"/>
            <a:ext cx="21431" cy="88688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35781" y="2871788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State Vector (4D)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5781" y="3055739"/>
            <a:ext cx="3786188" cy="488621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35781" y="3055739"/>
            <a:ext cx="21431" cy="488621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35781" y="3055739"/>
            <a:ext cx="3786188" cy="4886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 = (x, v_x, y, v_y)</a:t>
            </a:r>
            <a:br>
              <a:rPr b="0" i="0" lang="en-US" sz="621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Position + Velocity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28625" y="3794392"/>
            <a:ext cx="4000500" cy="537567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28625" y="3794392"/>
            <a:ext cx="21431" cy="537567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35781" y="3901548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UWB Update Trigger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35781" y="4085499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Only when new UWB measurement arrives (3 FPS). Uses UWB position as observation.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714875" y="1000125"/>
            <a:ext cx="4000500" cy="260747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Operational Flow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714875" y="1403747"/>
            <a:ext cx="4000500" cy="737592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714875" y="1403747"/>
            <a:ext cx="21431" cy="73759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822031" y="1510903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sp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predict_all(frame, timestamp)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822031" y="1709142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sp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Runs for all active UKF instances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22031" y="1907381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sp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Executes every frame (30 FPS)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714875" y="2284214"/>
            <a:ext cx="4000500" cy="737592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714875" y="2284214"/>
            <a:ext cx="21431" cy="73759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822031" y="1510903"/>
            <a:ext cx="928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22031" y="1709142"/>
            <a:ext cx="928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22031" y="1907381"/>
            <a:ext cx="928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822031" y="2391370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sp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update_all_uwb(uwb_measurements)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822031" y="2589609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sp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Updates only when UWB data available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822031" y="2787848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sp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Corrects predicted state with measurement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714875" y="3164681"/>
            <a:ext cx="4000500" cy="676870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714875" y="3164681"/>
            <a:ext cx="21431" cy="67687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822031" y="2391370"/>
            <a:ext cx="928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822031" y="2589609"/>
            <a:ext cx="928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22031" y="2787848"/>
            <a:ext cx="928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822031" y="3271838"/>
            <a:ext cx="37861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Occlusion Handling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2031" y="3455789"/>
            <a:ext cx="3786188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When person leaves frame, UKF continues predicting. Covariance grows, reflecting increased uncertainty. Identity maintained until re-entry.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0" y="4617709"/>
            <a:ext cx="9144000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510275" wrap="square" tIns="0">
            <a:spAutoFit/>
          </a:bodyPr>
          <a:lstStyle/>
          <a:p>
            <a:pPr indent="0" lvl="0" marL="0" marR="0" rtl="0" algn="ctr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Each UWB tag maintains its own UKF instance, enabling independent, parallel tracking of multiple persons with automatic identity preservation during occlusions.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4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0" y="357188"/>
            <a:ext cx="914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77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Implementation: Real-Time Matching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57188" y="1071563"/>
            <a:ext cx="4107656" cy="895424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57188" y="1071563"/>
            <a:ext cx="28575" cy="8954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35781" y="1250156"/>
            <a:ext cx="37504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Matching Rate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35781" y="1491258"/>
            <a:ext cx="3750469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Runs at 10 FPS (every 3 frames) to reduce computational load and increase temporal stability. Decoupled from the 30 FPS UKF tracking rate.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679156" y="1071563"/>
            <a:ext cx="4107656" cy="895424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679156" y="1071563"/>
            <a:ext cx="28575" cy="8954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857750" y="1250156"/>
            <a:ext cx="37504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Sliding Window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57750" y="1491258"/>
            <a:ext cx="3750469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Similarity calculated over 1-second window (30 frames) of recent data, not entire trajectory. Enables fast adaptation to new tracklets.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57188" y="2181299"/>
            <a:ext cx="4107656" cy="895424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57188" y="2181299"/>
            <a:ext cx="28575" cy="8954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35781" y="2359893"/>
            <a:ext cx="37504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Cost Function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35781" y="2600995"/>
            <a:ext cx="3750469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Mahalanobis Distance D(p_i, p_j) weighted by UKF covariance. Accounts for prediction uncertainty and measurement noise.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679156" y="2181299"/>
            <a:ext cx="4107656" cy="895424"/>
          </a:xfrm>
          <a:prstGeom prst="rect">
            <a:avLst/>
          </a:prstGeom>
          <a:solidFill>
            <a:srgbClr val="00D9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679156" y="2181299"/>
            <a:ext cx="28575" cy="8954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857750" y="2359893"/>
            <a:ext cx="37504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LAP Feasibility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857750" y="2600995"/>
            <a:ext cx="3750469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Infinite costs replaced with MAX_COST (1000.0) to ensure scipy.optimize.linear_sum_assignment can always find solution.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57188" y="3291036"/>
            <a:ext cx="8429625" cy="1601205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57188" y="3291036"/>
            <a:ext cx="28575" cy="1601205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35781" y="3469630"/>
            <a:ext cx="807243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Mahalanobis Distance Formula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35781" y="3710732"/>
            <a:ext cx="8072438" cy="1002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2878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 = sqrt((p_uwb - p_cam)^T * Σ^(-1) * (p_uwb - p_cam))</a:t>
            </a:r>
            <a:b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where:</a:t>
            </a:r>
            <a:b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p_uwb = UKF-estimated position</a:t>
            </a:r>
            <a:b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p_cam = Camera-observed position</a:t>
            </a:r>
            <a:b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Σ = UKF position covariance matrix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0" y="5106553"/>
            <a:ext cx="9144000" cy="339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5175" spcFirstLastPara="1" rIns="425175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The RealTimeTrajectoryMatcher solves the Linear Assignment Problem (LAP) using the Hungarian algorithm to find the optimal one-to-one match between all active UWB tags and all visible camera tracklets, maximizing total similarity.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0" y="357188"/>
            <a:ext cx="914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77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Key Features and Robustness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28625" y="1071563"/>
            <a:ext cx="4036219" cy="950119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07219" y="1257300"/>
            <a:ext cx="214313" cy="21431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07219" y="1257300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28688" y="1286768"/>
            <a:ext cx="92983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Multiple Targets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07219" y="1557338"/>
            <a:ext cx="3679031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Simultaneously tracks and identifies multiple UWB-tagged persons with independent trajectories and assignments.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679156" y="1071563"/>
            <a:ext cx="4036219" cy="950119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857750" y="1250156"/>
            <a:ext cx="214313" cy="21431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857750" y="1250156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179219" y="1279624"/>
            <a:ext cx="72375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Late Arrivals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857750" y="1550194"/>
            <a:ext cx="3679031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Dynamically initializes tracking for persons entering the scene after the system starts, with automatic UKF convergence.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28625" y="2221706"/>
            <a:ext cx="4036219" cy="950119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07219" y="2407444"/>
            <a:ext cx="214313" cy="21431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07219" y="2407444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28688" y="2436912"/>
            <a:ext cx="13815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Independent Occlusions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07219" y="2707481"/>
            <a:ext cx="3679031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Handles each person's occlusion independently. UKF continues predicting while maintaining identity during temporary frame absence.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679156" y="2221706"/>
            <a:ext cx="4036219" cy="950119"/>
          </a:xfrm>
          <a:prstGeom prst="rect">
            <a:avLst/>
          </a:prstGeom>
          <a:solidFill>
            <a:srgbClr val="00D9FF">
              <a:alpha val="7843"/>
            </a:srgbClr>
          </a:solidFill>
          <a:ln cap="flat" cmpd="sng" w="9525">
            <a:solidFill>
              <a:srgbClr val="00D9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857750" y="2400300"/>
            <a:ext cx="214313" cy="21431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857750" y="2400300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179219" y="2429768"/>
            <a:ext cx="113970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Distractor Rejection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857750" y="2700338"/>
            <a:ext cx="3679031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Correctly rejects camera tracklets without UWB tags, preventing false assignments to non-opted-in persons.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28625" y="3586163"/>
            <a:ext cx="82867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Real-Time Performance Metrics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28625" y="3868341"/>
            <a:ext cx="2666991" cy="573286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28625" y="3868341"/>
            <a:ext cx="21431" cy="57328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35781" y="3975497"/>
            <a:ext cx="245267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0.95 ms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35781" y="4205883"/>
            <a:ext cx="245267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Avg Frame Time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238491" y="3868341"/>
            <a:ext cx="2666991" cy="573286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238491" y="3868341"/>
            <a:ext cx="21431" cy="57328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3345647" y="3975497"/>
            <a:ext cx="245267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33.33 ms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345647" y="4205883"/>
            <a:ext cx="245267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30 FPS Budget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048356" y="3868341"/>
            <a:ext cx="2667019" cy="573286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048356" y="3868341"/>
            <a:ext cx="21431" cy="57328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155513" y="3975497"/>
            <a:ext cx="2452706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✓ MET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155513" y="4218384"/>
            <a:ext cx="24527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Real-Time Status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1826037" y="428625"/>
            <a:ext cx="54918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77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Conclusion: Innovation and Impact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28625" y="1214438"/>
            <a:ext cx="4000500" cy="895424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28625" y="1214438"/>
            <a:ext cx="28575" cy="89542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07219" y="1393031"/>
            <a:ext cx="36433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Decoupled Architecture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07219" y="1634133"/>
            <a:ext cx="3643313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High-rate UKF tracking (30 FPS) decoupled from lower-rate LAP identification (10 FPS) optimizes both latency and stability.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714875" y="1214438"/>
            <a:ext cx="4000500" cy="895424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714875" y="1214438"/>
            <a:ext cx="28575" cy="89542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893469" y="1393031"/>
            <a:ext cx="36433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Robust Multi-Target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893469" y="1634133"/>
            <a:ext cx="3643313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Successfully handles multiple simultaneous targets, late arrivals, independent occlusions, and distractor tracklets.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28625" y="2395612"/>
            <a:ext cx="4000500" cy="895424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28625" y="2395612"/>
            <a:ext cx="28575" cy="89542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07219" y="2574206"/>
            <a:ext cx="36433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Real-Time Performance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07219" y="2815307"/>
            <a:ext cx="3643313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Average processing time of 0.95 ms per frame, well below the 33.33 ms constraint for 30 FPS operation.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714875" y="2395612"/>
            <a:ext cx="4000500" cy="895424"/>
          </a:xfrm>
          <a:prstGeom prst="rect">
            <a:avLst/>
          </a:prstGeom>
          <a:solidFill>
            <a:srgbClr val="FF6B3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714875" y="2395612"/>
            <a:ext cx="28575" cy="89542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893469" y="2574206"/>
            <a:ext cx="36433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Privacy-Preserving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893469" y="2815307"/>
            <a:ext cx="3643313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Records only individuals who explicitly consent via UWB tag opt-in, ensuring privacy compliance and ethical deployment.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0" y="4162574"/>
            <a:ext cx="91440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510275" wrap="square" tIns="0">
            <a:spAutoFit/>
          </a:bodyPr>
          <a:lstStyle/>
          <a:p>
            <a:pPr indent="0" lvl="0" marL="0" marR="0" rtl="0" algn="ctr">
              <a:lnSpc>
                <a:spcPct val="191846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The decoupled architecture provides a robust, scalable solution for privacy-preserving person identification in dynamic, real-world scenarios. Ready for deployment on vehicle-mounted platforms and edge devices.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2025-12-04T15:24:34Z</dcterms:created>
  <dc:creator>PptxGenJS</dc:creator>
</cp:coreProperties>
</file>