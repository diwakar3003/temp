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714375"/>
            <a:ext cx="2857500" cy="142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5572125" y="1428750"/>
            <a:ext cx="3571875" cy="1428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357188" y="4057650"/>
            <a:ext cx="2143125" cy="1428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953258" y="1508057"/>
            <a:ext cx="5237457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3294" b="1" spc="1" kern="0" dirty="0">
                <a:solidFill>
                  <a:srgbClr val="00D9FF"/>
                </a:solidFill>
              </a:rPr>
              <a:t>Opt-in Camera System</a:t>
            </a:r>
            <a:endParaRPr lang="en-US" sz="3294" dirty="0"/>
          </a:p>
        </p:txBody>
      </p:sp>
      <p:sp>
        <p:nvSpPr>
          <p:cNvPr id="7" name="Text 1"/>
          <p:cNvSpPr/>
          <p:nvPr/>
        </p:nvSpPr>
        <p:spPr>
          <a:xfrm>
            <a:off x="1953258" y="2501038"/>
            <a:ext cx="5237457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8F1F5"/>
                </a:solidFill>
              </a:rPr>
              <a:t>3D vs. 2D Implementation Comparison</a:t>
            </a:r>
            <a:endParaRPr lang="en-US" sz="1269" dirty="0"/>
          </a:p>
        </p:txBody>
      </p:sp>
      <p:sp>
        <p:nvSpPr>
          <p:cNvPr id="8" name="Text 2"/>
          <p:cNvSpPr/>
          <p:nvPr/>
        </p:nvSpPr>
        <p:spPr>
          <a:xfrm>
            <a:off x="1953258" y="3169676"/>
            <a:ext cx="523745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E3A5F"/>
                </a:solidFill>
              </a:rPr>
              <a:t>Bridging UWB Localization and Visual Tracking for Privacy-Preserving Identification</a:t>
            </a:r>
            <a:endParaRPr lang="en-US" sz="942" dirty="0"/>
          </a:p>
        </p:txBody>
      </p:sp>
      <p:sp>
        <p:nvSpPr>
          <p:cNvPr id="9" name="Text 3"/>
          <p:cNvSpPr/>
          <p:nvPr/>
        </p:nvSpPr>
        <p:spPr>
          <a:xfrm>
            <a:off x="2490071" y="4443413"/>
            <a:ext cx="41638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E3A5F"/>
                </a:solidFill>
              </a:rPr>
              <a:t>Presenter: Manus AI | November 2025</a:t>
            </a:r>
            <a:endParaRPr lang="en-US" sz="834" dirty="0"/>
          </a:p>
        </p:txBody>
      </p:sp>
      <p:sp>
        <p:nvSpPr>
          <p:cNvPr id="10" name="Text 4"/>
          <p:cNvSpPr/>
          <p:nvPr/>
        </p:nvSpPr>
        <p:spPr>
          <a:xfrm>
            <a:off x="2490071" y="4686300"/>
            <a:ext cx="41638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E3A5F"/>
                </a:solidFill>
              </a:rPr>
              <a:t>Reference: Opt-in Camera: Person Identification in Video via UWB Localization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spc="1" kern="0" dirty="0">
                <a:solidFill>
                  <a:srgbClr val="00D9FF"/>
                </a:solidFill>
              </a:rPr>
              <a:t>The Opt-in Camera Concept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393031"/>
            <a:ext cx="80010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F1F5"/>
                </a:solidFill>
              </a:rPr>
              <a:t>The system identifies and records only individuals carrying an explicit consent UWB tag.</a:t>
            </a:r>
            <a:endParaRPr lang="en-US" sz="942" dirty="0"/>
          </a:p>
        </p:txBody>
      </p:sp>
      <p:sp>
        <p:nvSpPr>
          <p:cNvPr id="5" name="Text 2"/>
          <p:cNvSpPr/>
          <p:nvPr/>
        </p:nvSpPr>
        <p:spPr>
          <a:xfrm>
            <a:off x="571500" y="1813061"/>
            <a:ext cx="3857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spc="2" kern="0" dirty="0">
                <a:solidFill>
                  <a:srgbClr val="FF6B35"/>
                </a:solidFill>
              </a:rPr>
              <a:t>UWB Localization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571500" y="2077380"/>
            <a:ext cx="3857625" cy="36572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1F5"/>
                </a:solidFill>
              </a:rPr>
              <a:t>Tracks the tag's position in the world frame using Ultra-Wideband wireless signals.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714875" y="1813061"/>
            <a:ext cx="3857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spc="2" kern="0" dirty="0">
                <a:solidFill>
                  <a:srgbClr val="FF6B35"/>
                </a:solidFill>
              </a:rPr>
              <a:t>Camera Tracking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714875" y="2077380"/>
            <a:ext cx="3857625" cy="36572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1F5"/>
                </a:solidFill>
              </a:rPr>
              <a:t>Tracks all pedestrians' positions in the world frame using visual detection and MOT.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71500" y="2728857"/>
            <a:ext cx="3857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spc="2" kern="0" dirty="0">
                <a:solidFill>
                  <a:srgbClr val="FF6B35"/>
                </a:solidFill>
              </a:rPr>
              <a:t>Trajectory Matching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71500" y="2993175"/>
            <a:ext cx="3857625" cy="36572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1F5"/>
                </a:solidFill>
              </a:rPr>
              <a:t>Compares UWB and Camera trajectories using Mahalanobis distance to assign tags to persons.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714875" y="2728857"/>
            <a:ext cx="3857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spc="2" kern="0" dirty="0">
                <a:solidFill>
                  <a:srgbClr val="FF6B35"/>
                </a:solidFill>
              </a:rPr>
              <a:t>Asynchronous Data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4714875" y="2993175"/>
            <a:ext cx="3857625" cy="36572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1F5"/>
                </a:solidFill>
              </a:rPr>
              <a:t>Fuses low-rate UWB (3-10 FPS) with high-rate camera (10-30 FPS) via UKF prediction.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571500" y="4223296"/>
            <a:ext cx="8001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E3A5F"/>
                </a:solidFill>
              </a:rPr>
              <a:t>→ The Unscented Kalman Filter is the key innovation enabling real-time person identification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226" b="1" spc="1" kern="0" dirty="0">
                <a:solidFill>
                  <a:srgbClr val="00D9FF"/>
                </a:solidFill>
              </a:rPr>
              <a:t>Original Paper Implementation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571500" y="1278731"/>
            <a:ext cx="80010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1F5"/>
                </a:solidFill>
              </a:rPr>
              <a:t>The original approach is designed for high accuracy and robustness in a calibrated 3D space.</a:t>
            </a:r>
            <a:endParaRPr lang="en-US" sz="834" dirty="0"/>
          </a:p>
        </p:txBody>
      </p:sp>
      <p:sp>
        <p:nvSpPr>
          <p:cNvPr id="5" name="Text 2"/>
          <p:cNvSpPr/>
          <p:nvPr/>
        </p:nvSpPr>
        <p:spPr>
          <a:xfrm>
            <a:off x="742950" y="1711626"/>
            <a:ext cx="78295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2" kern="0" dirty="0">
                <a:solidFill>
                  <a:srgbClr val="FF6B35"/>
                </a:solidFill>
              </a:rPr>
              <a:t>UWB Data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742950" y="1918795"/>
            <a:ext cx="78295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1F5"/>
                </a:solidFill>
              </a:rPr>
              <a:t>Raw polar coordinates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(Radial, Azimuth, Elevation)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1F5"/>
                </a:solidFill>
              </a:rPr>
              <a:t> from a single anchor device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742950" y="2233120"/>
            <a:ext cx="78295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2" kern="0" dirty="0">
                <a:solidFill>
                  <a:srgbClr val="FF6B35"/>
                </a:solidFill>
              </a:rPr>
              <a:t>UKF State Vector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742950" y="2440288"/>
            <a:ext cx="78295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5-Dimensional: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1F5"/>
                </a:solidFill>
              </a:rPr>
              <a:t> (x, v_x, y, v_y, z) - includes height for full 3D tracking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742950" y="2754613"/>
            <a:ext cx="78295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2" kern="0" dirty="0">
                <a:solidFill>
                  <a:srgbClr val="FF6B35"/>
                </a:solidFill>
              </a:rPr>
              <a:t>Camera Data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742950" y="2961782"/>
            <a:ext cx="78295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1F5"/>
                </a:solidFill>
              </a:rPr>
              <a:t>3D world coordinates (x, y, z) derived from 2D pixel data using camera intrinsic/extrinsic parameters and head-size estimation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742950" y="3276107"/>
            <a:ext cx="78295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2" kern="0" dirty="0">
                <a:solidFill>
                  <a:srgbClr val="FF6B35"/>
                </a:solidFill>
              </a:rPr>
              <a:t>Complexity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742950" y="3483276"/>
            <a:ext cx="78295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1F5"/>
                </a:solidFill>
              </a:rPr>
              <a:t>Requires extensive camera-UWB extrinsic calibration and non-linear observation model for the UKF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226" b="1" spc="1" kern="0" dirty="0">
                <a:solidFill>
                  <a:srgbClr val="00D9FF"/>
                </a:solidFill>
              </a:rPr>
              <a:t>Modified Implementation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571500" y="1278731"/>
            <a:ext cx="80010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1F5"/>
                </a:solidFill>
              </a:rPr>
              <a:t>The simplified approach assumes pre-calibrated, direct world-frame position data.</a:t>
            </a:r>
            <a:endParaRPr lang="en-US" sz="834" dirty="0"/>
          </a:p>
        </p:txBody>
      </p:sp>
      <p:sp>
        <p:nvSpPr>
          <p:cNvPr id="5" name="Text 2"/>
          <p:cNvSpPr/>
          <p:nvPr/>
        </p:nvSpPr>
        <p:spPr>
          <a:xfrm>
            <a:off x="742950" y="1711626"/>
            <a:ext cx="78295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2" kern="0" dirty="0">
                <a:solidFill>
                  <a:srgbClr val="1E3A5F"/>
                </a:solidFill>
              </a:rPr>
              <a:t>UWB Data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742950" y="1918795"/>
            <a:ext cx="78295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1F5"/>
                </a:solidFill>
              </a:rPr>
              <a:t>Direct 2D Cartesian coordinates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(x, y)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1F5"/>
                </a:solidFill>
              </a:rPr>
              <a:t> in the world frame (e.g., from multi-anchor system or pre-processed data)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742950" y="2233120"/>
            <a:ext cx="78295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2" kern="0" dirty="0">
                <a:solidFill>
                  <a:srgbClr val="1E3A5F"/>
                </a:solidFill>
              </a:rPr>
              <a:t>UKF State Vector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742950" y="2440288"/>
            <a:ext cx="78295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4-Dimensional: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1F5"/>
                </a:solidFill>
              </a:rPr>
              <a:t> (x, v_x, y, v_y) - simplified to 2D ground plane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742950" y="2754613"/>
            <a:ext cx="78295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2" kern="0" dirty="0">
                <a:solidFill>
                  <a:srgbClr val="1E3A5F"/>
                </a:solidFill>
              </a:rPr>
              <a:t>Camera Data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742950" y="2961782"/>
            <a:ext cx="78295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1F5"/>
                </a:solidFill>
              </a:rPr>
              <a:t>Direct 2D Cartesian coordinates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(x, y)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1F5"/>
                </a:solidFill>
              </a:rPr>
              <a:t> in the world frame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742950" y="3276107"/>
            <a:ext cx="78295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2" kern="0" dirty="0">
                <a:solidFill>
                  <a:srgbClr val="1E3A5F"/>
                </a:solidFill>
              </a:rPr>
              <a:t>Simplification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742950" y="3483276"/>
            <a:ext cx="78295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1F5"/>
                </a:solidFill>
              </a:rPr>
              <a:t>Eliminates complex 3D projection, head-size estimation, and polar-to-Cartesian UKF observation model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spc="1" kern="0" dirty="0">
                <a:solidFill>
                  <a:srgbClr val="00D9FF"/>
                </a:solidFill>
              </a:rPr>
              <a:t>UKF Design Comparison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35769" y="1135856"/>
            <a:ext cx="8272463" cy="378619"/>
          </a:xfrm>
          <a:prstGeom prst="rect">
            <a:avLst/>
          </a:prstGeom>
          <a:solidFill>
            <a:srgbClr val="0A1628">
              <a:alpha val="8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35769" y="1135856"/>
            <a:ext cx="2068116" cy="378619"/>
          </a:xfrm>
          <a:prstGeom prst="rect">
            <a:avLst/>
          </a:prstGeom>
          <a:solidFill>
            <a:srgbClr val="1E3A5F"/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5769" y="1135856"/>
            <a:ext cx="2068116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00D9FF"/>
                </a:solidFill>
              </a:rPr>
              <a:t>Feature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2501205" y="1135856"/>
            <a:ext cx="3103513" cy="378619"/>
          </a:xfrm>
          <a:prstGeom prst="rect">
            <a:avLst/>
          </a:prstGeom>
          <a:solidFill>
            <a:srgbClr val="1E3A5F"/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01205" y="1135856"/>
            <a:ext cx="3103513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00D9FF"/>
                </a:solidFill>
              </a:rPr>
              <a:t>Original (3D) Implementation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5604718" y="1135856"/>
            <a:ext cx="3103513" cy="378619"/>
          </a:xfrm>
          <a:prstGeom prst="rect">
            <a:avLst/>
          </a:prstGeom>
          <a:solidFill>
            <a:srgbClr val="1E3A5F"/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04718" y="1135856"/>
            <a:ext cx="3103513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00D9FF"/>
                </a:solidFill>
              </a:rPr>
              <a:t>Modified (2D) Implementation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432197" y="1496616"/>
            <a:ext cx="8279606" cy="371475"/>
          </a:xfrm>
          <a:prstGeom prst="rect">
            <a:avLst/>
          </a:prstGeom>
          <a:solidFill>
            <a:srgbClr val="0A1628">
              <a:alpha val="8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32197" y="1496616"/>
            <a:ext cx="2069902" cy="371475"/>
          </a:xfrm>
          <a:prstGeom prst="rect">
            <a:avLst/>
          </a:prstGeom>
          <a:solidFill>
            <a:srgbClr val="FF6B35">
              <a:alpha val="15000"/>
            </a:srgbClr>
          </a:solidFill>
          <a:ln w="9144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197" y="1496616"/>
            <a:ext cx="2069902" cy="37147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State Vector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2612827" y="1614488"/>
            <a:ext cx="7521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(x, v_x, y, v_y, z)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3364929" y="1614488"/>
            <a:ext cx="13383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- 5D with height component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5717679" y="1614488"/>
            <a:ext cx="652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(x, v_x, y, v_y)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6370467" y="1614488"/>
            <a:ext cx="10996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- 4D ground plane only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432197" y="1868091"/>
            <a:ext cx="8279606" cy="371475"/>
          </a:xfrm>
          <a:prstGeom prst="rect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32197" y="1868091"/>
            <a:ext cx="2069902" cy="371475"/>
          </a:xfrm>
          <a:prstGeom prst="rect">
            <a:avLst/>
          </a:prstGeom>
          <a:solidFill>
            <a:srgbClr val="FF6B35">
              <a:alpha val="15000"/>
            </a:srgbClr>
          </a:solidFill>
          <a:ln w="9144">
            <a:solidFill>
              <a:srgbClr val="1E3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2197" y="1868091"/>
            <a:ext cx="2069902" cy="37147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Observation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2612827" y="1985963"/>
            <a:ext cx="2970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Polar: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2909878" y="1985963"/>
            <a:ext cx="35615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(r, α, φ)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3266033" y="1985963"/>
            <a:ext cx="124507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- 3D spherical coordinates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5717679" y="1985963"/>
            <a:ext cx="4975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Cartesian: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6215258" y="1985963"/>
            <a:ext cx="23705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(x, y)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6452313" y="1985963"/>
            <a:ext cx="11230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- 2D planar coordinates</a:t>
            </a:r>
            <a:endParaRPr lang="en-US" sz="727" dirty="0"/>
          </a:p>
        </p:txBody>
      </p:sp>
      <p:sp>
        <p:nvSpPr>
          <p:cNvPr id="27" name="Shape 24"/>
          <p:cNvSpPr/>
          <p:nvPr/>
        </p:nvSpPr>
        <p:spPr>
          <a:xfrm>
            <a:off x="432197" y="2239566"/>
            <a:ext cx="8279606" cy="521494"/>
          </a:xfrm>
          <a:prstGeom prst="rect">
            <a:avLst/>
          </a:prstGeom>
          <a:solidFill>
            <a:srgbClr val="0A1628">
              <a:alpha val="8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432197" y="2239566"/>
            <a:ext cx="2069902" cy="521494"/>
          </a:xfrm>
          <a:prstGeom prst="rect">
            <a:avLst/>
          </a:prstGeom>
          <a:solidFill>
            <a:srgbClr val="FF6B35">
              <a:alpha val="15000"/>
            </a:srgbClr>
          </a:solidFill>
          <a:ln w="9144">
            <a:solidFill>
              <a:srgbClr val="1E3A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2197" y="2239566"/>
            <a:ext cx="2069902" cy="5214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Observation Model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2612827" y="2357438"/>
            <a:ext cx="5327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Non-linear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2612827" y="2357438"/>
            <a:ext cx="22248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- Cartesian to polar conversion with trigonometric functions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5717679" y="2432447"/>
            <a:ext cx="3176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Linear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6035325" y="2432447"/>
            <a:ext cx="22642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- Direct projection of state position components</a:t>
            </a:r>
            <a:endParaRPr lang="en-US" sz="727" dirty="0"/>
          </a:p>
        </p:txBody>
      </p:sp>
      <p:sp>
        <p:nvSpPr>
          <p:cNvPr id="34" name="Shape 31"/>
          <p:cNvSpPr/>
          <p:nvPr/>
        </p:nvSpPr>
        <p:spPr>
          <a:xfrm>
            <a:off x="432197" y="2761059"/>
            <a:ext cx="8279606" cy="521494"/>
          </a:xfrm>
          <a:prstGeom prst="rect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32197" y="2761059"/>
            <a:ext cx="2069902" cy="521494"/>
          </a:xfrm>
          <a:prstGeom prst="rect">
            <a:avLst/>
          </a:prstGeom>
          <a:solidFill>
            <a:srgbClr val="FF6B35">
              <a:alpha val="15000"/>
            </a:srgbClr>
          </a:solidFill>
          <a:ln w="9144">
            <a:solidFill>
              <a:srgbClr val="1E3A5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32197" y="2761059"/>
            <a:ext cx="2069902" cy="5214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Z-Component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2612827" y="2953941"/>
            <a:ext cx="3925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Tracked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3005398" y="2953941"/>
            <a:ext cx="22551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- Constant position model for height estimation</a:t>
            </a:r>
            <a:endParaRPr lang="en-US" sz="727" dirty="0"/>
          </a:p>
        </p:txBody>
      </p:sp>
      <p:sp>
        <p:nvSpPr>
          <p:cNvPr id="39" name="Text 36"/>
          <p:cNvSpPr/>
          <p:nvPr/>
        </p:nvSpPr>
        <p:spPr>
          <a:xfrm>
            <a:off x="5717679" y="2878931"/>
            <a:ext cx="3956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Ignored</a:t>
            </a:r>
            <a:endParaRPr lang="en-US" sz="683" dirty="0"/>
          </a:p>
        </p:txBody>
      </p:sp>
      <p:sp>
        <p:nvSpPr>
          <p:cNvPr id="40" name="Text 37"/>
          <p:cNvSpPr/>
          <p:nvPr/>
        </p:nvSpPr>
        <p:spPr>
          <a:xfrm>
            <a:off x="5717679" y="2878931"/>
            <a:ext cx="27773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- Assumed constant or irrelevant for ground-plane tracking</a:t>
            </a:r>
            <a:endParaRPr lang="en-US" sz="727" dirty="0"/>
          </a:p>
        </p:txBody>
      </p:sp>
      <p:sp>
        <p:nvSpPr>
          <p:cNvPr id="41" name="Shape 38"/>
          <p:cNvSpPr/>
          <p:nvPr/>
        </p:nvSpPr>
        <p:spPr>
          <a:xfrm>
            <a:off x="432197" y="3282553"/>
            <a:ext cx="8279606" cy="371475"/>
          </a:xfrm>
          <a:prstGeom prst="rect">
            <a:avLst/>
          </a:prstGeom>
          <a:solidFill>
            <a:srgbClr val="0A1628">
              <a:alpha val="80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32197" y="3282553"/>
            <a:ext cx="2069902" cy="371475"/>
          </a:xfrm>
          <a:prstGeom prst="rect">
            <a:avLst/>
          </a:prstGeom>
          <a:solidFill>
            <a:srgbClr val="FF6B35">
              <a:alpha val="15000"/>
            </a:srgbClr>
          </a:solidFill>
          <a:ln w="9144">
            <a:solidFill>
              <a:srgbClr val="1E3A5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32197" y="3282553"/>
            <a:ext cx="2069902" cy="37147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Complexity</a:t>
            </a:r>
            <a:endParaRPr lang="en-US" sz="683" dirty="0"/>
          </a:p>
        </p:txBody>
      </p:sp>
      <p:sp>
        <p:nvSpPr>
          <p:cNvPr id="44" name="Text 41"/>
          <p:cNvSpPr/>
          <p:nvPr/>
        </p:nvSpPr>
        <p:spPr>
          <a:xfrm>
            <a:off x="2610148" y="3400425"/>
            <a:ext cx="23605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High</a:t>
            </a:r>
            <a:endParaRPr lang="en-US" sz="683" dirty="0"/>
          </a:p>
        </p:txBody>
      </p:sp>
      <p:sp>
        <p:nvSpPr>
          <p:cNvPr id="45" name="Text 42"/>
          <p:cNvSpPr/>
          <p:nvPr/>
        </p:nvSpPr>
        <p:spPr>
          <a:xfrm>
            <a:off x="2846198" y="3400425"/>
            <a:ext cx="24149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- Requires non-linear UKF and extensive calibration</a:t>
            </a:r>
            <a:endParaRPr lang="en-US" sz="727" dirty="0"/>
          </a:p>
        </p:txBody>
      </p:sp>
      <p:sp>
        <p:nvSpPr>
          <p:cNvPr id="46" name="Text 43"/>
          <p:cNvSpPr/>
          <p:nvPr/>
        </p:nvSpPr>
        <p:spPr>
          <a:xfrm>
            <a:off x="5716339" y="3400425"/>
            <a:ext cx="2020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Low</a:t>
            </a:r>
            <a:endParaRPr lang="en-US" sz="683" dirty="0"/>
          </a:p>
        </p:txBody>
      </p:sp>
      <p:sp>
        <p:nvSpPr>
          <p:cNvPr id="47" name="Text 44"/>
          <p:cNvSpPr/>
          <p:nvPr/>
        </p:nvSpPr>
        <p:spPr>
          <a:xfrm>
            <a:off x="5918374" y="3400425"/>
            <a:ext cx="25088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- Closer to standard 2D Kalman filter implementation</a:t>
            </a:r>
            <a:endParaRPr lang="en-US" sz="727" dirty="0"/>
          </a:p>
        </p:txBody>
      </p:sp>
      <p:sp>
        <p:nvSpPr>
          <p:cNvPr id="48" name="Text 45"/>
          <p:cNvSpPr/>
          <p:nvPr/>
        </p:nvSpPr>
        <p:spPr>
          <a:xfrm>
            <a:off x="428625" y="3800475"/>
            <a:ext cx="82867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i="1" dirty="0">
                <a:solidFill>
                  <a:srgbClr val="1E3A5F"/>
                </a:solidFill>
              </a:rPr>
              <a:t>→ The UKF's complexity directly reflects the sensor data complexity and coordinate system requirements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352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912" b="1" spc="1" kern="0" dirty="0">
                <a:solidFill>
                  <a:srgbClr val="00D9FF"/>
                </a:solidFill>
              </a:rPr>
              <a:t>Asynchronous Data Synchronization</a:t>
            </a:r>
            <a:endParaRPr lang="en-US" sz="1912" dirty="0"/>
          </a:p>
        </p:txBody>
      </p:sp>
      <p:sp>
        <p:nvSpPr>
          <p:cNvPr id="4" name="Text 1"/>
          <p:cNvSpPr/>
          <p:nvPr/>
        </p:nvSpPr>
        <p:spPr>
          <a:xfrm>
            <a:off x="571500" y="1017259"/>
            <a:ext cx="80010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F1F5"/>
                </a:solidFill>
              </a:rPr>
              <a:t>The UKF prediction step running at the camera's frame rate creates a continuous, high-rate trajectory from sparse UWB measurements.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571500" y="1392306"/>
            <a:ext cx="1071563" cy="175022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spc="1" kern="0" dirty="0">
                <a:solidFill>
                  <a:srgbClr val="FF6B35"/>
                </a:solidFill>
              </a:rPr>
              <a:t>UWB Rate</a:t>
            </a:r>
            <a:endParaRPr lang="en-US" sz="634" dirty="0"/>
          </a:p>
        </p:txBody>
      </p:sp>
      <p:sp>
        <p:nvSpPr>
          <p:cNvPr id="6" name="Text 3"/>
          <p:cNvSpPr/>
          <p:nvPr/>
        </p:nvSpPr>
        <p:spPr>
          <a:xfrm>
            <a:off x="1785938" y="1392306"/>
            <a:ext cx="67865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3 FPS (Low)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1785938" y="1620906"/>
            <a:ext cx="67865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Sparse measurements every ~333 ms. Limited by UWB hardware capabilities.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571500" y="2113824"/>
            <a:ext cx="1071563" cy="175022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spc="1" kern="0" dirty="0">
                <a:solidFill>
                  <a:srgbClr val="FF6B35"/>
                </a:solidFill>
              </a:rPr>
              <a:t>Camera Rate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1785938" y="2113824"/>
            <a:ext cx="67865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30 FPS (High)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1785938" y="2342424"/>
            <a:ext cx="67865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Dense tracklets every ~33 ms. Standard video frame rate for real-time processing.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571500" y="2835343"/>
            <a:ext cx="1071563" cy="175022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spc="1" kern="0" dirty="0">
                <a:solidFill>
                  <a:srgbClr val="FF6B35"/>
                </a:solidFill>
              </a:rPr>
              <a:t>UKF Output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1785938" y="2835343"/>
            <a:ext cx="67865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30 FPS (Continuous)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1785938" y="3063943"/>
            <a:ext cx="67865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Smoothed trajectory at camera rate. Prediction fills gaps between UWB updates.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571500" y="3921193"/>
            <a:ext cx="8001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FF6B35"/>
                </a:solidFill>
              </a:rPr>
              <a:t>Synchronization Mechanism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571500" y="4156937"/>
            <a:ext cx="8001000" cy="13930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Prediction Step: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 Runs at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30 FPS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 for every frame, providing a position estimate using the Constant Velocity motion model.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571500" y="4381965"/>
            <a:ext cx="8001000" cy="13930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Update Step: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 Only runs when a new UWB measurement arrives (every 10th frame at 3 FPS), correcting the prediction with the noisy measurement.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571500" y="4606993"/>
            <a:ext cx="8001000" cy="13930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Result: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 A continuous, high-rate UWB trajectory (T_i) with associated uncertainty (covariance P) for every camera frame, enabling meaningful Mahalanobis distance comparison.</a:t>
            </a:r>
            <a:endParaRPr lang="en-US" sz="6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spc="1" kern="0" dirty="0">
                <a:solidFill>
                  <a:srgbClr val="00D9FF"/>
                </a:solidFill>
              </a:rPr>
              <a:t>Trajectory Matching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1092994"/>
            <a:ext cx="80010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F1F5"/>
                </a:solidFill>
              </a:rPr>
              <a:t>The cost function uses time-averaged Mahalanobis distance weighted by UKF covariance uncertainty.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571500" y="1475184"/>
            <a:ext cx="1428750" cy="257175"/>
          </a:xfrm>
          <a:prstGeom prst="rect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993106" y="1475184"/>
            <a:ext cx="7144" cy="25717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475184"/>
            <a:ext cx="1428750" cy="257175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FF6B35"/>
                </a:solidFill>
              </a:rPr>
              <a:t>Feature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2000250" y="1475184"/>
            <a:ext cx="3286125" cy="257175"/>
          </a:xfrm>
          <a:prstGeom prst="rect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279231" y="1475184"/>
            <a:ext cx="7144" cy="25717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7"/>
          <p:cNvSpPr/>
          <p:nvPr/>
        </p:nvSpPr>
        <p:spPr>
          <a:xfrm>
            <a:off x="2000250" y="1475184"/>
            <a:ext cx="3286125" cy="257175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FF6B35"/>
                </a:solidFill>
              </a:rPr>
              <a:t>Original (3D)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5286375" y="1475184"/>
            <a:ext cx="3286125" cy="257175"/>
          </a:xfrm>
          <a:prstGeom prst="rect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565356" y="1475184"/>
            <a:ext cx="7144" cy="25717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5286375" y="1475184"/>
            <a:ext cx="3286125" cy="257175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FF6B35"/>
                </a:solidFill>
              </a:rPr>
              <a:t>Modified (2D)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571500" y="1739503"/>
            <a:ext cx="1428750" cy="257175"/>
          </a:xfrm>
          <a:prstGeom prst="rect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993106" y="1739503"/>
            <a:ext cx="7144" cy="25717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1739503"/>
            <a:ext cx="1428750" cy="257175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FF6B35"/>
                </a:solidFill>
              </a:rPr>
              <a:t>Metric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2107406" y="1846659"/>
            <a:ext cx="103534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Mahalanobis Distance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3142748" y="1846659"/>
            <a:ext cx="66741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D(p_i^t, p_j^t)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5393531" y="1846659"/>
            <a:ext cx="103534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Mahalanobis Distance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6428873" y="1846659"/>
            <a:ext cx="66741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D(p_i^t, p_j^t)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571500" y="2003822"/>
            <a:ext cx="1428750" cy="257175"/>
          </a:xfrm>
          <a:prstGeom prst="rect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993106" y="2003822"/>
            <a:ext cx="7144" cy="25717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0"/>
          <p:cNvSpPr/>
          <p:nvPr/>
        </p:nvSpPr>
        <p:spPr>
          <a:xfrm>
            <a:off x="571500" y="2003822"/>
            <a:ext cx="1428750" cy="257175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FF6B35"/>
                </a:solidFill>
              </a:rPr>
              <a:t>Weighting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2107406" y="2110978"/>
            <a:ext cx="140458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Inverse of 3x3 UKF covariance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3511990" y="2110978"/>
            <a:ext cx="34717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P(x,y,z)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5393531" y="2110978"/>
            <a:ext cx="140458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Inverse of 2x2 UKF covariance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6798115" y="2110978"/>
            <a:ext cx="27383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P(x,y)</a:t>
            </a:r>
            <a:endParaRPr lang="en-US" sz="683" dirty="0"/>
          </a:p>
        </p:txBody>
      </p:sp>
      <p:sp>
        <p:nvSpPr>
          <p:cNvPr id="28" name="Shape 25"/>
          <p:cNvSpPr/>
          <p:nvPr/>
        </p:nvSpPr>
        <p:spPr>
          <a:xfrm>
            <a:off x="571500" y="2268141"/>
            <a:ext cx="1428750" cy="257175"/>
          </a:xfrm>
          <a:prstGeom prst="rect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993106" y="2268141"/>
            <a:ext cx="7144" cy="25717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7"/>
          <p:cNvSpPr/>
          <p:nvPr/>
        </p:nvSpPr>
        <p:spPr>
          <a:xfrm>
            <a:off x="571500" y="2268141"/>
            <a:ext cx="1428750" cy="257175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FF6B35"/>
                </a:solidFill>
              </a:rPr>
              <a:t>Window Size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2107406" y="2375297"/>
            <a:ext cx="43716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Dynamic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2544570" y="2375297"/>
            <a:ext cx="126025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- Entire overlap of T_i ∩ T_j</a:t>
            </a:r>
            <a:endParaRPr lang="en-US" sz="727" dirty="0"/>
          </a:p>
        </p:txBody>
      </p:sp>
      <p:sp>
        <p:nvSpPr>
          <p:cNvPr id="33" name="Text 30"/>
          <p:cNvSpPr/>
          <p:nvPr/>
        </p:nvSpPr>
        <p:spPr>
          <a:xfrm>
            <a:off x="5393531" y="2375297"/>
            <a:ext cx="43716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Dynamic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5830695" y="2375297"/>
            <a:ext cx="126025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- Entire overlap of T_i ∩ T_j</a:t>
            </a:r>
            <a:endParaRPr lang="en-US" sz="727" dirty="0"/>
          </a:p>
        </p:txBody>
      </p:sp>
      <p:sp>
        <p:nvSpPr>
          <p:cNvPr id="35" name="Text 32"/>
          <p:cNvSpPr/>
          <p:nvPr/>
        </p:nvSpPr>
        <p:spPr>
          <a:xfrm>
            <a:off x="742950" y="2889647"/>
            <a:ext cx="78295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spc="2" kern="0" dirty="0">
                <a:solidFill>
                  <a:srgbClr val="FF6B35"/>
                </a:solidFill>
              </a:rPr>
              <a:t>Dynamic Window Concept</a:t>
            </a:r>
            <a:endParaRPr lang="en-US" sz="634" dirty="0"/>
          </a:p>
        </p:txBody>
      </p:sp>
      <p:sp>
        <p:nvSpPr>
          <p:cNvPr id="36" name="Text 33"/>
          <p:cNvSpPr/>
          <p:nvPr/>
        </p:nvSpPr>
        <p:spPr>
          <a:xfrm>
            <a:off x="742950" y="3086100"/>
            <a:ext cx="78295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F1F5"/>
                </a:solidFill>
              </a:rPr>
              <a:t>The comparison window spans the </a:t>
            </a:r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entire overlapping duration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F1F5"/>
                </a:solidFill>
              </a:rPr>
              <a:t> of the UWB trajectory and camera tracklet. This allows matching of short tracklets (e.g., 1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F1F5"/>
                </a:solidFill>
              </a:rPr>
              <a:t>second) to corresponding UWB segments, while also matching long continuous tracklets (e.g., 10 seconds).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16" b="1" spc="1" kern="0" dirty="0">
                <a:solidFill>
                  <a:srgbClr val="00D9FF"/>
                </a:solidFill>
              </a:rPr>
              <a:t>Real-Time Inference Rate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1035844"/>
            <a:ext cx="80010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F1F5"/>
                </a:solidFill>
              </a:rPr>
              <a:t>The final person identification is a result of the Trajectory Matching (LAP) solver, which runs at a lower rate than the tracking pipeline.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571500" y="1546622"/>
            <a:ext cx="2571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spc="1" kern="0" dirty="0">
                <a:solidFill>
                  <a:srgbClr val="FF6B35"/>
                </a:solidFill>
              </a:rPr>
              <a:t>UKF Prediction/Update</a:t>
            </a:r>
            <a:endParaRPr lang="en-US" sz="634" dirty="0"/>
          </a:p>
        </p:txBody>
      </p:sp>
      <p:sp>
        <p:nvSpPr>
          <p:cNvPr id="6" name="Text 3"/>
          <p:cNvSpPr/>
          <p:nvPr/>
        </p:nvSpPr>
        <p:spPr>
          <a:xfrm>
            <a:off x="571500" y="1757363"/>
            <a:ext cx="2571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E8F1F5"/>
                </a:solidFill>
              </a:rPr>
              <a:t>30 FPS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2028825"/>
            <a:ext cx="257175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E3A5F"/>
                </a:solidFill>
              </a:rPr>
              <a:t>Smoothed UWB Position and Covariance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3286125" y="1546622"/>
            <a:ext cx="2571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spc="1" kern="0" dirty="0">
                <a:solidFill>
                  <a:srgbClr val="FF6B35"/>
                </a:solidFill>
              </a:rPr>
              <a:t>Mahalanobis Distance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3286125" y="1757363"/>
            <a:ext cx="2571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E8F1F5"/>
                </a:solidFill>
              </a:rPr>
              <a:t>30 FPS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3286125" y="2028825"/>
            <a:ext cx="257175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E3A5F"/>
                </a:solidFill>
              </a:rPr>
              <a:t>Instantaneous Distance D(p_i^t, p_j^t)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6000750" y="1546622"/>
            <a:ext cx="2571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spc="1" kern="0" dirty="0">
                <a:solidFill>
                  <a:srgbClr val="00D9FF"/>
                </a:solidFill>
              </a:rPr>
              <a:t>Trajectory Matching (LAP)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6000750" y="1757363"/>
            <a:ext cx="2571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E8F1F5"/>
                </a:solidFill>
              </a:rPr>
              <a:t>10 FPS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6000750" y="2028825"/>
            <a:ext cx="257175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E3A5F"/>
                </a:solidFill>
              </a:rPr>
              <a:t>Final Person Identification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571500" y="2666042"/>
            <a:ext cx="8001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FF6B35"/>
                </a:solidFill>
              </a:rPr>
              <a:t>Why 10 FPS for Identification?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571500" y="2901786"/>
            <a:ext cx="8001000" cy="13001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Computational Cost: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 LAP solver (Hungarian algorithm) scales with tracklet count. Running at 10 FPS saves CPU resources.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571500" y="3117521"/>
            <a:ext cx="8001000" cy="13001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Temporal Stability: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 Running assignment too frequently can cause "flickering". 10 FPS provides stable identification.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571500" y="3333257"/>
            <a:ext cx="8001000" cy="130011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Averaging Window: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 Time-averaged similarity c_ij is calculated over recent sliding window (1-2 seconds), updated every 0.1 seconds.</a:t>
            </a:r>
            <a:endParaRPr lang="en-US" sz="6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spc="1" kern="0" dirty="0">
                <a:solidFill>
                  <a:srgbClr val="00D9FF"/>
                </a:solidFill>
              </a:rPr>
              <a:t>Original 3D Approach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1092994"/>
            <a:ext cx="80010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F1F5"/>
                </a:solidFill>
              </a:rPr>
              <a:t>The 3D approach is necessary for unconstrained environments where full spatial context is critical.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571500" y="1632347"/>
            <a:ext cx="25479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spc="1" kern="0" dirty="0">
                <a:solidFill>
                  <a:srgbClr val="FF6B35"/>
                </a:solidFill>
              </a:rPr>
              <a:t>Robustness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571500" y="1889522"/>
            <a:ext cx="25479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Handles the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true non-linear nature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 of UWB polar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measurements, providing accurate position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estimation in complex indoor environments.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3298013" y="1632347"/>
            <a:ext cx="25479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spc="1" kern="0" dirty="0">
                <a:solidFill>
                  <a:srgbClr val="FF6B35"/>
                </a:solidFill>
              </a:rPr>
              <a:t>Calibration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3298013" y="1889522"/>
            <a:ext cx="2547947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Features a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novel auto-calibration method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 that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determines UWB-Camera extrinsic parameters,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essential for initial system setup and deployment.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6024553" y="1632347"/>
            <a:ext cx="25479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spc="1" kern="0" dirty="0">
                <a:solidFill>
                  <a:srgbClr val="FF6B35"/>
                </a:solidFill>
              </a:rPr>
              <a:t>Precision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6024553" y="1889522"/>
            <a:ext cx="25479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Uses the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z-component (height)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 to provide precise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world-frame positions, critical for accurate 3D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trajectory matching and identification.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571500" y="2948192"/>
            <a:ext cx="8001000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E3A5F"/>
                </a:solidFill>
              </a:rPr>
              <a:t>→ The 3D approach is ideal for production systems requiring high accuracy and robustness in real-world, unconstrained environments.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spc="1" kern="0" dirty="0">
                <a:solidFill>
                  <a:srgbClr val="00D9FF"/>
                </a:solidFill>
              </a:rPr>
              <a:t>Modified 2D Approach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1092994"/>
            <a:ext cx="80010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F1F5"/>
                </a:solidFill>
              </a:rPr>
              <a:t>The 2D approach is suitable for scenarios with pre-processed or simplified data, offering ease of deployment and reduced complexity.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571500" y="1632347"/>
            <a:ext cx="25479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spc="1" kern="0" dirty="0">
                <a:solidFill>
                  <a:srgbClr val="1E3A5F"/>
                </a:solidFill>
              </a:rPr>
              <a:t>Code Simplicity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571500" y="1889522"/>
            <a:ext cx="25479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The UKF implementation uses a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linear observation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model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, making the code simpler and easier to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understand compared to the non-linear 3D approach.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3298013" y="1632347"/>
            <a:ext cx="25479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spc="1" kern="0" dirty="0">
                <a:solidFill>
                  <a:srgbClr val="1E3A5F"/>
                </a:solidFill>
              </a:rPr>
              <a:t>Data Requirement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3298013" y="1889522"/>
            <a:ext cx="2547947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Assumes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direct world-frame (x, y) data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, bypassing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complex camera projection and head-size estimation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steps, reducing preprocessing overhead.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6024553" y="1632347"/>
            <a:ext cx="25479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spc="1" kern="0" dirty="0">
                <a:solidFill>
                  <a:srgbClr val="1E3A5F"/>
                </a:solidFill>
              </a:rPr>
              <a:t>Computational Efficiency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6024553" y="1889522"/>
            <a:ext cx="25479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Lower-dimensional state vector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(4D vs 5D)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 and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covariance matrix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(4x4 vs 5x5)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 reduce UKF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computational load.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571500" y="2948192"/>
            <a:ext cx="8001000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1E3A5F"/>
                </a:solidFill>
              </a:rPr>
              <a:t>→ The 2D approach is ideal for rapid prototyping, research, and scenarios with pre-processed or multi-anchor UWB systems providing direct Cartesian coordinates.</a:t>
            </a:r>
            <a:endParaRPr lang="en-US" sz="72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390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121" b="1" spc="1" kern="0" dirty="0">
                <a:solidFill>
                  <a:srgbClr val="00D9FF"/>
                </a:solidFill>
              </a:rPr>
              <a:t>Key Insight: The UKF Innovation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18682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F1F5"/>
                </a:solidFill>
              </a:rPr>
              <a:t>The core innovation lies in using the Unscented Kalman Filter to transform sparse, noisy UWB data into continuous, high-rate, uncertainty-weighted trajectories.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1469687" y="1640188"/>
            <a:ext cx="30704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FF6B35"/>
                </a:solidFill>
              </a:rPr>
              <a:t>Input</a:t>
            </a:r>
            <a:endParaRPr lang="en-US" sz="584" dirty="0"/>
          </a:p>
        </p:txBody>
      </p:sp>
      <p:sp>
        <p:nvSpPr>
          <p:cNvPr id="6" name="Text 3"/>
          <p:cNvSpPr/>
          <p:nvPr/>
        </p:nvSpPr>
        <p:spPr>
          <a:xfrm>
            <a:off x="1329686" y="1825926"/>
            <a:ext cx="587043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Sparse, Noisy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 UWB Data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3 FPS</a:t>
            </a:r>
            <a:endParaRPr lang="en-US" sz="674" dirty="0"/>
          </a:p>
        </p:txBody>
      </p:sp>
      <p:sp>
        <p:nvSpPr>
          <p:cNvPr id="7" name="Text 4"/>
          <p:cNvSpPr/>
          <p:nvPr/>
        </p:nvSpPr>
        <p:spPr>
          <a:xfrm>
            <a:off x="2782072" y="1759846"/>
            <a:ext cx="6310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9FF"/>
                </a:solidFill>
              </a:rPr>
              <a:t>→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359111" y="1640188"/>
            <a:ext cx="42575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FF6B35"/>
                </a:solidFill>
              </a:rPr>
              <a:t>Process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4255052" y="1825926"/>
            <a:ext cx="63384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UKF with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 Constant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 Velocity Model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5730850" y="1759846"/>
            <a:ext cx="6310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9FF"/>
                </a:solidFill>
              </a:rPr>
              <a:t>→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7323851" y="1640188"/>
            <a:ext cx="39382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FF6B35"/>
                </a:solidFill>
              </a:rPr>
              <a:t>Output</a:t>
            </a:r>
            <a:endParaRPr lang="en-US" sz="584" dirty="0"/>
          </a:p>
        </p:txBody>
      </p:sp>
      <p:sp>
        <p:nvSpPr>
          <p:cNvPr id="12" name="Text 9"/>
          <p:cNvSpPr/>
          <p:nvPr/>
        </p:nvSpPr>
        <p:spPr>
          <a:xfrm>
            <a:off x="7257018" y="1825926"/>
            <a:ext cx="527521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Continuous,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 High-Rate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30 FPS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742950" y="2729610"/>
            <a:ext cx="23764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spc="1" kern="0" dirty="0">
                <a:solidFill>
                  <a:srgbClr val="FF6B35"/>
                </a:solidFill>
              </a:rPr>
              <a:t>01: Sparse to Continuous</a:t>
            </a:r>
            <a:endParaRPr lang="en-US" sz="734" dirty="0"/>
          </a:p>
        </p:txBody>
      </p:sp>
      <p:sp>
        <p:nvSpPr>
          <p:cNvPr id="14" name="Text 11"/>
          <p:cNvSpPr/>
          <p:nvPr/>
        </p:nvSpPr>
        <p:spPr>
          <a:xfrm>
            <a:off x="742950" y="2961782"/>
            <a:ext cx="2376469" cy="44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The UKF's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prediction step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 runs at 30 FPS, filling gaps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between sparse 3 FPS UWB measurements using a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Constant Velocity motion model.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3469463" y="2729610"/>
            <a:ext cx="237649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spc="1" kern="0" dirty="0">
                <a:solidFill>
                  <a:srgbClr val="00D9FF"/>
                </a:solidFill>
              </a:rPr>
              <a:t>02: Uncertainty Quantification</a:t>
            </a:r>
            <a:endParaRPr lang="en-US" sz="734" dirty="0"/>
          </a:p>
        </p:txBody>
      </p:sp>
      <p:sp>
        <p:nvSpPr>
          <p:cNvPr id="16" name="Text 13"/>
          <p:cNvSpPr/>
          <p:nvPr/>
        </p:nvSpPr>
        <p:spPr>
          <a:xfrm>
            <a:off x="3469463" y="2961782"/>
            <a:ext cx="2376497" cy="44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The UKF maintains a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covariance matrix P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 that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quantifies the uncertainty in each position estimate,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reflecting the reliability of the prediction.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6196003" y="2729610"/>
            <a:ext cx="23764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spc="1" kern="0" dirty="0">
                <a:solidFill>
                  <a:srgbClr val="1E3A5F"/>
                </a:solidFill>
              </a:rPr>
              <a:t>03: Probabilistic Matching</a:t>
            </a:r>
            <a:endParaRPr lang="en-US" sz="734" dirty="0"/>
          </a:p>
        </p:txBody>
      </p:sp>
      <p:sp>
        <p:nvSpPr>
          <p:cNvPr id="18" name="Text 15"/>
          <p:cNvSpPr/>
          <p:nvPr/>
        </p:nvSpPr>
        <p:spPr>
          <a:xfrm>
            <a:off x="6196003" y="2961782"/>
            <a:ext cx="2376469" cy="44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The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Mahalanobis distance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 uses the covariance to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weight the distance metric, enabling probabilistic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person identification.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571500" y="3936123"/>
            <a:ext cx="8001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FF6B35"/>
                </a:solidFill>
              </a:rPr>
              <a:t>Why This Matters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571500" y="4157579"/>
            <a:ext cx="80010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Whether using the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original 3D approach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 or the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modified 2D approach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, the success of the Opt-in Camera system hinges on the quality of the UKF's state estimation. The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UKF bridges the fundamental challenge of fusing asynchronous, multi-rate sensor data into a unified, probabilistic framework for person identification.</a:t>
            </a:r>
            <a:endParaRPr lang="en-US" sz="72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357188"/>
            <a:ext cx="2857500" cy="142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5572125" y="4557713"/>
            <a:ext cx="3571875" cy="1428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163453" y="486863"/>
            <a:ext cx="2817093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3731" b="1" spc="2" kern="0" dirty="0">
                <a:solidFill>
                  <a:srgbClr val="00D9FF"/>
                </a:solidFill>
              </a:rPr>
              <a:t>Thank You</a:t>
            </a:r>
            <a:endParaRPr lang="en-US" sz="3731" dirty="0"/>
          </a:p>
        </p:txBody>
      </p:sp>
      <p:sp>
        <p:nvSpPr>
          <p:cNvPr id="6" name="Text 1"/>
          <p:cNvSpPr/>
          <p:nvPr/>
        </p:nvSpPr>
        <p:spPr>
          <a:xfrm>
            <a:off x="3105410" y="1329826"/>
            <a:ext cx="293317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4" spc="1" kern="0" dirty="0">
                <a:solidFill>
                  <a:srgbClr val="FF6B35"/>
                </a:solidFill>
              </a:rPr>
              <a:t>Questions and Discussion</a:t>
            </a:r>
            <a:endParaRPr lang="en-US" sz="1704" dirty="0"/>
          </a:p>
        </p:txBody>
      </p:sp>
      <p:sp>
        <p:nvSpPr>
          <p:cNvPr id="7" name="Text 2"/>
          <p:cNvSpPr/>
          <p:nvPr/>
        </p:nvSpPr>
        <p:spPr>
          <a:xfrm>
            <a:off x="2242998" y="2408532"/>
            <a:ext cx="22885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01</a:t>
            </a:r>
            <a:endParaRPr lang="en-US" sz="1397" dirty="0"/>
          </a:p>
        </p:txBody>
      </p:sp>
      <p:sp>
        <p:nvSpPr>
          <p:cNvPr id="8" name="Text 3"/>
          <p:cNvSpPr/>
          <p:nvPr/>
        </p:nvSpPr>
        <p:spPr>
          <a:xfrm>
            <a:off x="1357313" y="2780007"/>
            <a:ext cx="20002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The </a:t>
            </a:r>
            <a:pPr algn="ctr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UKF bridges asynchronous data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 by 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predicting at 30 FPS while updating at 3 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FPS.</a:t>
            </a:r>
            <a:endParaRPr lang="en-US" sz="727" dirty="0"/>
          </a:p>
        </p:txBody>
      </p:sp>
      <p:sp>
        <p:nvSpPr>
          <p:cNvPr id="9" name="Text 4"/>
          <p:cNvSpPr/>
          <p:nvPr/>
        </p:nvSpPr>
        <p:spPr>
          <a:xfrm>
            <a:off x="4457560" y="2408532"/>
            <a:ext cx="22885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02</a:t>
            </a:r>
            <a:endParaRPr lang="en-US" sz="1397" dirty="0"/>
          </a:p>
        </p:txBody>
      </p:sp>
      <p:sp>
        <p:nvSpPr>
          <p:cNvPr id="10" name="Text 5"/>
          <p:cNvSpPr/>
          <p:nvPr/>
        </p:nvSpPr>
        <p:spPr>
          <a:xfrm>
            <a:off x="3571875" y="2780007"/>
            <a:ext cx="20002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Mahalanobis distance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 enables 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probabilistic person identification 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weighted by UKF uncertainty.</a:t>
            </a:r>
            <a:endParaRPr lang="en-US" sz="683" dirty="0"/>
          </a:p>
        </p:txBody>
      </p:sp>
      <p:sp>
        <p:nvSpPr>
          <p:cNvPr id="11" name="Text 6"/>
          <p:cNvSpPr/>
          <p:nvPr/>
        </p:nvSpPr>
        <p:spPr>
          <a:xfrm>
            <a:off x="6672123" y="2408532"/>
            <a:ext cx="22885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03</a:t>
            </a:r>
            <a:endParaRPr lang="en-US" sz="1397" dirty="0"/>
          </a:p>
        </p:txBody>
      </p:sp>
      <p:sp>
        <p:nvSpPr>
          <p:cNvPr id="12" name="Text 7"/>
          <p:cNvSpPr/>
          <p:nvPr/>
        </p:nvSpPr>
        <p:spPr>
          <a:xfrm>
            <a:off x="5786438" y="2780007"/>
            <a:ext cx="20002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Both </a:t>
            </a:r>
            <a:pPr algn="ctr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3D and 2D approaches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 are valid for 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different deployment scenarios and </a:t>
            </a:r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complexity requirements.</a:t>
            </a:r>
            <a:endParaRPr lang="en-US" sz="727" dirty="0"/>
          </a:p>
        </p:txBody>
      </p:sp>
      <p:sp>
        <p:nvSpPr>
          <p:cNvPr id="13" name="Text 8"/>
          <p:cNvSpPr/>
          <p:nvPr/>
        </p:nvSpPr>
        <p:spPr>
          <a:xfrm>
            <a:off x="3961461" y="3981552"/>
            <a:ext cx="122105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spc="2" kern="0" dirty="0">
                <a:solidFill>
                  <a:srgbClr val="1E3A5F"/>
                </a:solidFill>
              </a:rPr>
              <a:t>Contact &amp; Reference</a:t>
            </a:r>
            <a:endParaRPr lang="en-US" sz="621" dirty="0"/>
          </a:p>
        </p:txBody>
      </p:sp>
      <p:sp>
        <p:nvSpPr>
          <p:cNvPr id="14" name="Text 9"/>
          <p:cNvSpPr/>
          <p:nvPr/>
        </p:nvSpPr>
        <p:spPr>
          <a:xfrm>
            <a:off x="2971214" y="4167290"/>
            <a:ext cx="320157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Presenter: Manus AI | November 2025</a:t>
            </a:r>
            <a:endParaRPr lang="en-US" sz="674" dirty="0"/>
          </a:p>
        </p:txBody>
      </p:sp>
      <p:sp>
        <p:nvSpPr>
          <p:cNvPr id="15" name="Text 10"/>
          <p:cNvSpPr/>
          <p:nvPr/>
        </p:nvSpPr>
        <p:spPr>
          <a:xfrm>
            <a:off x="2971214" y="4378030"/>
            <a:ext cx="320157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Paper: Opt-in Camera: Person Identification in Video via UWB Localization</a:t>
            </a:r>
            <a:endParaRPr lang="en-US" sz="674" dirty="0"/>
          </a:p>
        </p:txBody>
      </p:sp>
      <p:sp>
        <p:nvSpPr>
          <p:cNvPr id="16" name="Text 11"/>
          <p:cNvSpPr/>
          <p:nvPr/>
        </p:nvSpPr>
        <p:spPr>
          <a:xfrm>
            <a:off x="2971214" y="4517334"/>
            <a:ext cx="320157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Reference: arXiv:2409.19891v2</a:t>
            </a:r>
            <a:endParaRPr lang="en-US" sz="67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2025-11-25T01:34:17Z</dcterms:created>
  <dcterms:modified xsi:type="dcterms:W3CDTF">2025-11-25T01:34:17Z</dcterms:modified>
</cp:coreProperties>
</file>