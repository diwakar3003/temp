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58786"/>
            <a:ext cx="571500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00000"/>
                </a:solidFill>
              </a:rPr>
              <a:t>Real-Time Multi-Person Opt-in Camera System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3104657"/>
            <a:ext cx="500062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007ACC"/>
                </a:solidFill>
              </a:rPr>
              <a:t>Complete Flow Diagram and Implementation Details</a:t>
            </a:r>
            <a:endParaRPr lang="en-US" sz="148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Method Summary: Bridging Asynchronous Data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578644" y="1071563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92956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Data Fusion Challenge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92956" y="1551980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Integrating sparse 3 FPS UWB localization with high-rate 30 FPS camera tracklets in real-time.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722019" y="1071563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936331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UKF as Temporal Bridge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936331" y="1551980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Dedicated Unscented Kalman Filter for each UWB tag upsamples to 30 FPS with uncertainty weighting.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8644" y="2452092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92956" y="266640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Probabilistic Matching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92956" y="2932509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Mahalanobis distance calculates similarity between UKF position and camera observation over sliding window.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722019" y="2452092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4936331" y="266640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Optimal Assignment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4936331" y="2932509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Linear Assignment Problem solver finds best one-to-one match between all UWB tags and camera tracklets.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0" y="3968353"/>
            <a:ext cx="9144000" cy="411435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The system achieves robust, real-time person identification by decoupling high-rate tracking (UKF at 30 FPS) from lower-rate identification (LAP at 10 FPS), optimizing both latency and stability.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3" y="428625"/>
            <a:ext cx="8286750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14313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428625"/>
            <a:ext cx="8286750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Complete System Flow Diagram</a:t>
            </a:r>
            <a:endParaRPr lang="en-US" sz="1808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790" y="1100165"/>
            <a:ext cx="724421" cy="30002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4350544"/>
            <a:ext cx="9144000" cy="411435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Visual representation of the real-time inference pipeline executed every frame (30 FPS). Data flows from asynchronous sources through multi-person tracking to final identification (10 FPS).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024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Implementation: Multi-Person Tracker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71500" y="1064419"/>
            <a:ext cx="3857625" cy="28039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Class Overview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571500" y="1451967"/>
            <a:ext cx="3857625" cy="59293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656" y="1559123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Class Name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78656" y="1752005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MultiPersonTracker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571500" y="2137767"/>
            <a:ext cx="3857625" cy="76438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656" y="2244923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Core Structure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78656" y="2437805"/>
            <a:ext cx="3643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Dictionary of StreamingUWBUKF2D instances, keyed by UWB ID (101, 102, ...)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71500" y="2995017"/>
            <a:ext cx="3857625" cy="912949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656" y="3102173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State Vector (4D)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678656" y="3295055"/>
            <a:ext cx="3643313" cy="4914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3"/>
          <p:cNvSpPr/>
          <p:nvPr/>
        </p:nvSpPr>
        <p:spPr>
          <a:xfrm>
            <a:off x="678656" y="3295055"/>
            <a:ext cx="21431" cy="4914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678656" y="3295055"/>
            <a:ext cx="3643313" cy="49146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 = (x, v_x, y, v_y)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Position + Velocity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71500" y="4000835"/>
            <a:ext cx="3857625" cy="76438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8656" y="4107991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UWB Update Trigger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678656" y="4300872"/>
            <a:ext cx="3643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Only when new UWB measurement arrives (3 FPS). Uses UWB position as observation.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714875" y="1064419"/>
            <a:ext cx="3857625" cy="28039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Operational Flow</a:t>
            </a:r>
            <a:endParaRPr lang="en-US" sz="987" dirty="0"/>
          </a:p>
        </p:txBody>
      </p:sp>
      <p:sp>
        <p:nvSpPr>
          <p:cNvPr id="22" name="Shape 19"/>
          <p:cNvSpPr/>
          <p:nvPr/>
        </p:nvSpPr>
        <p:spPr>
          <a:xfrm>
            <a:off x="4714875" y="1451967"/>
            <a:ext cx="3857625" cy="837605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2031" y="1559123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predict_all(frame, timestamp)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822031" y="1785938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Runs for all active UKF instances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822031" y="2012752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Executes every frame (30 FPS)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4714875" y="2382441"/>
            <a:ext cx="3857625" cy="837605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2031" y="1559123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822031" y="1785938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822031" y="2012752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822031" y="2489597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update_all_uwb(uwb_measurements)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4822031" y="2716411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Updates only when UWB data available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822031" y="2943225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Corrects predicted state with measurement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4714875" y="3312914"/>
            <a:ext cx="3857625" cy="93583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22031" y="2489597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822031" y="2716411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822031" y="2943225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4822031" y="3420070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Occlusion Handling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4822031" y="3612952"/>
            <a:ext cx="3643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When person leaves frame, UKF continues predicting. Covariance grows, reflecting increased uncertainty. Identity maintained until re-entry.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0" y="5179554"/>
            <a:ext cx="9144000" cy="365727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Each UWB tag maintains its own UKF instance, enabling independent, parallel tracking of multiple persons with automatic identity preservation during occlusions.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034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Implementation: Real-Time Matching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578644" y="1071563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21519" y="1214438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Matching Rate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21519" y="1426964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Runs at 10 FPS (every 3 frames) to reduce computational load and increase temporal stability.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8644" y="2047019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721519" y="2189894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Sliding Window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721519" y="2402421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Similarity calculated over 1-second window (30 frames) of recent data, not entire trajectory.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78644" y="3022476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21519" y="3165351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Cost Function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721519" y="3377878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Mahalanobis Distance D(p_i, p_j) weighted by UKF covariance matrix.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578644" y="3997933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721519" y="4140808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LAP Feasibility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721519" y="4353334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Infinite costs replaced with MAX_COST (1000.0) to ensure solver convergence.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4722019" y="1071563"/>
            <a:ext cx="35719" cy="1777008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19" name="Text 16"/>
          <p:cNvSpPr/>
          <p:nvPr/>
        </p:nvSpPr>
        <p:spPr>
          <a:xfrm>
            <a:off x="4900613" y="1250156"/>
            <a:ext cx="3486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Mahalanobis Distance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900613" y="1512689"/>
            <a:ext cx="3486150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D = √[(p_uwb - p_cam)ᵀ × Σ⁻¹ × (p_uwb - p_cam)]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where: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p_uwb = UKF position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p_cam = Camera position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Σ = UKF covariance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4722019" y="3005733"/>
            <a:ext cx="35719" cy="1584127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2" name="Text 19"/>
          <p:cNvSpPr/>
          <p:nvPr/>
        </p:nvSpPr>
        <p:spPr>
          <a:xfrm>
            <a:off x="4900613" y="3184327"/>
            <a:ext cx="3486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Similarity Score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900613" y="3446859"/>
            <a:ext cx="348615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Similarity = 1/(1 + D)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Range: [0, 1]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1.0 = Perfect match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0.0 = No match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0" y="5037683"/>
            <a:ext cx="9144000" cy="365727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just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The RealTimeTrajectoryMatcher solves the Linear Assignment Problem (LAP) using the Hungarian algorithm to find the optimal one-to-one match between all active UWB tags and all visible camera tracklets, maximizing total similarity while maintaining real-time performance.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6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Key Features and Robustness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585788" y="107870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64381" y="1328738"/>
            <a:ext cx="35075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✓ Multiple Targets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64381" y="1589484"/>
            <a:ext cx="35075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Simultaneously tracks and identifies multiple UWB-tagged persons with independent trajectories and assignments.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4693444" y="107870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872038" y="1328738"/>
            <a:ext cx="35075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→ Late Arrivals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872038" y="1589484"/>
            <a:ext cx="35075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Dynamically initializes tracking for persons entering the scene after the system starts, with automatic UKF convergence.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85788" y="235386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64381" y="2603897"/>
            <a:ext cx="35075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◆ Independent Occlusions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764381" y="2864644"/>
            <a:ext cx="35075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Handles each person's occlusion independently. UKF continues predicting while maintaining identity during temporary frame absence.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693444" y="235386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4872038" y="2696766"/>
            <a:ext cx="35075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✗ Distractor Rejection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872038" y="2943225"/>
            <a:ext cx="35075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Correctly rejects camera tracklets without UWB tags, preventing false assignments to non-opted-in persons.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71500" y="4000500"/>
            <a:ext cx="8001000" cy="19466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Real-Time Performance Metrics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585788" y="4352330"/>
            <a:ext cx="2543175" cy="28575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0" name="Text 17"/>
          <p:cNvSpPr/>
          <p:nvPr/>
        </p:nvSpPr>
        <p:spPr>
          <a:xfrm>
            <a:off x="728663" y="4566642"/>
            <a:ext cx="22574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ACC"/>
                </a:solidFill>
              </a:rPr>
              <a:t>0.95 ms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728663" y="4897041"/>
            <a:ext cx="2257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Avg Frame Time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3300413" y="4352330"/>
            <a:ext cx="2543175" cy="28575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3" name="Text 20"/>
          <p:cNvSpPr/>
          <p:nvPr/>
        </p:nvSpPr>
        <p:spPr>
          <a:xfrm>
            <a:off x="3443288" y="4566642"/>
            <a:ext cx="22574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ACC"/>
                </a:solidFill>
              </a:rPr>
              <a:t>33.33 ms</a:t>
            </a:r>
            <a:endParaRPr lang="en-US" sz="1397" dirty="0"/>
          </a:p>
        </p:txBody>
      </p:sp>
      <p:sp>
        <p:nvSpPr>
          <p:cNvPr id="24" name="Text 21"/>
          <p:cNvSpPr/>
          <p:nvPr/>
        </p:nvSpPr>
        <p:spPr>
          <a:xfrm>
            <a:off x="3443288" y="4897041"/>
            <a:ext cx="2257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30 FPS Budget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6015038" y="4352330"/>
            <a:ext cx="2543175" cy="28575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6" name="Text 23"/>
          <p:cNvSpPr/>
          <p:nvPr/>
        </p:nvSpPr>
        <p:spPr>
          <a:xfrm>
            <a:off x="6157913" y="4566642"/>
            <a:ext cx="22574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ACC"/>
                </a:solidFill>
              </a:rPr>
              <a:t>✓ MET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6157913" y="4913114"/>
            <a:ext cx="2257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Real-Time Status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Conclusion: Innovation and Impact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578644" y="107156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92956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Decoupled Architecture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92956" y="1551980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High-rate UKF tracking (30 FPS) decoupled from lower-rate LAP identification (10 FPS) optimizes both latency and stability.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722019" y="107156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936331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Robust Multi-Target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936331" y="1551980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Successfully handles multiple simultaneous targets, late arrivals, independent occlusions, and distractor tracklets.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8644" y="264497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92956" y="2955727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Real-Time Performance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92956" y="3221831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Average processing time of 0.95 ms per frame, well below the 33.33 ms constraint for 30 FPS operation.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722019" y="264497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4936331" y="2859286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Privacy-Preserving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4936331" y="3125391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Records only individuals who explicitly consent via UWB tag opt-in, ensuring privacy compliance and ethical deployment.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0" y="4354116"/>
            <a:ext cx="9144000" cy="411435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The decoupled architecture provides a robust, scalable solution for privacy-preserving person identification in dynamic, real-world scenarios. Ready for deployment on vehicle-mounted platforms and edge devices.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2025-12-05T02:37:43Z</dcterms:created>
  <dcterms:modified xsi:type="dcterms:W3CDTF">2025-12-05T02:37:43Z</dcterms:modified>
</cp:coreProperties>
</file>