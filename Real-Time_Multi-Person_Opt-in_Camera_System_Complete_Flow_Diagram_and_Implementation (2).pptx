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1758786"/>
            <a:ext cx="5715000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000000"/>
                </a:solidFill>
              </a:rPr>
              <a:t>Real-Time Multi-Person Opt-in Camera System</a:t>
            </a:r>
            <a:endParaRPr lang="en-US" sz="2862" dirty="0"/>
          </a:p>
        </p:txBody>
      </p:sp>
      <p:sp>
        <p:nvSpPr>
          <p:cNvPr id="4" name="Text 1"/>
          <p:cNvSpPr/>
          <p:nvPr/>
        </p:nvSpPr>
        <p:spPr>
          <a:xfrm>
            <a:off x="714375" y="3104657"/>
            <a:ext cx="5000625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007ACC"/>
                </a:solidFill>
              </a:rPr>
              <a:t>Complete Flow Diagram and Implementation Details</a:t>
            </a:r>
            <a:endParaRPr lang="en-US" sz="148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Method Summary: Bridging Asynchronous Data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8644" y="1071563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92956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Data Fusion Challenge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92956" y="1551980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Integrating sparse 3 FPS UWB localization with high-rate 30 FPS camera tracklets in real-time.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722019" y="1071563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936331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UKF as Temporal Bridge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936331" y="1551980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Dedicated Unscented Kalman Filter for each UWB tag upsamples to 30 FPS with uncertainty weighting.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8644" y="2452092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92956" y="266640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Probabilistic Matching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92956" y="2932509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Mahalanobis distance calculates similarity between UKF position and camera observation over sliding window.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22019" y="2452092"/>
            <a:ext cx="35719" cy="108049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936331" y="266640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Optimal Assignment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4936331" y="2932509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Linear Assignment Problem solver finds best one-to-one match between all UWB tags and camera tracklets.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0" y="3968353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system achieves robust, real-time person identification by decoupling high-rate tracking (UKF at 30 FPS) from lower-rate identification (LAP at 10 FPS), optimizing both latency and stability.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664423" y="428625"/>
            <a:ext cx="4243778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664423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2664423" y="428625"/>
            <a:ext cx="4243778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Complete System Flow Diagram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871538" y="1257300"/>
            <a:ext cx="722021" cy="135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71538" y="1257300"/>
            <a:ext cx="722021" cy="135731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Data Sources</a:t>
            </a:r>
            <a:endParaRPr lang="en-US" sz="683" dirty="0"/>
          </a:p>
        </p:txBody>
      </p:sp>
      <p:sp>
        <p:nvSpPr>
          <p:cNvPr id="8" name="Shape 5"/>
          <p:cNvSpPr/>
          <p:nvPr/>
        </p:nvSpPr>
        <p:spPr>
          <a:xfrm>
            <a:off x="942975" y="1507331"/>
            <a:ext cx="1143000" cy="428625"/>
          </a:xfrm>
          <a:prstGeom prst="rect">
            <a:avLst/>
          </a:prstGeom>
          <a:solidFill>
            <a:srgbClr val="E8E8E8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42975" y="1507331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Camera Tracklets (30 FPS)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942975" y="1935956"/>
            <a:ext cx="1143000" cy="564356"/>
          </a:xfrm>
          <a:prstGeom prst="rect">
            <a:avLst/>
          </a:prstGeom>
          <a:solidFill>
            <a:srgbClr val="E8E8E8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2975" y="1935956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UWB Measurements (3 FPS)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3014663" y="900113"/>
            <a:ext cx="1520419" cy="135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014663" y="900113"/>
            <a:ext cx="1520419" cy="135731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Multi-Person Tracker (30 FPS)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3443288" y="1221581"/>
            <a:ext cx="1143000" cy="292894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43288" y="1221581"/>
            <a:ext cx="1143000" cy="292894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MultiPersonTracker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3443288" y="1721644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43288" y="1721644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UKF Prediction (All Tags)</a:t>
            </a:r>
            <a:endParaRPr lang="en-US" sz="683" dirty="0"/>
          </a:p>
        </p:txBody>
      </p:sp>
      <p:sp>
        <p:nvSpPr>
          <p:cNvPr id="18" name="Shape 15"/>
          <p:cNvSpPr/>
          <p:nvPr/>
        </p:nvSpPr>
        <p:spPr>
          <a:xfrm>
            <a:off x="3443288" y="2221706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43288" y="2221706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UKF Update (UWB-Driven)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3443288" y="2721769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43288" y="2721769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UKF State Buffer (30 FPS)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3443288" y="3221831"/>
            <a:ext cx="1143000" cy="428625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43288" y="3221831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Camera Tracklet Buffer</a:t>
            </a:r>
            <a:endParaRPr lang="en-US" sz="683" dirty="0"/>
          </a:p>
        </p:txBody>
      </p:sp>
      <p:sp>
        <p:nvSpPr>
          <p:cNvPr id="24" name="Shape 21"/>
          <p:cNvSpPr/>
          <p:nvPr/>
        </p:nvSpPr>
        <p:spPr>
          <a:xfrm>
            <a:off x="5872163" y="1257300"/>
            <a:ext cx="1484616" cy="13573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2"/>
          <p:cNvSpPr/>
          <p:nvPr/>
        </p:nvSpPr>
        <p:spPr>
          <a:xfrm>
            <a:off x="5872163" y="1257300"/>
            <a:ext cx="1484616" cy="135731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6B35"/>
                </a:solidFill>
              </a:rPr>
              <a:t>Trajectory Matching (10 FPS)</a:t>
            </a:r>
            <a:endParaRPr lang="en-US" sz="683" dirty="0"/>
          </a:p>
        </p:txBody>
      </p:sp>
      <p:sp>
        <p:nvSpPr>
          <p:cNvPr id="26" name="Shape 23"/>
          <p:cNvSpPr/>
          <p:nvPr/>
        </p:nvSpPr>
        <p:spPr>
          <a:xfrm>
            <a:off x="6479381" y="1578769"/>
            <a:ext cx="1143000" cy="56435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79381" y="1578769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Calculate Mahalanobis Cost Matrix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6479381" y="2078831"/>
            <a:ext cx="1143000" cy="564356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79381" y="2078831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Solve LAP (Hungarian Algorithm)</a:t>
            </a:r>
            <a:endParaRPr lang="en-US" sz="683" dirty="0"/>
          </a:p>
        </p:txBody>
      </p:sp>
      <p:sp>
        <p:nvSpPr>
          <p:cNvPr id="30" name="Shape 27"/>
          <p:cNvSpPr/>
          <p:nvPr/>
        </p:nvSpPr>
        <p:spPr>
          <a:xfrm>
            <a:off x="6479381" y="2578894"/>
            <a:ext cx="1143000" cy="564356"/>
          </a:xfrm>
          <a:prstGeom prst="rect">
            <a:avLst/>
          </a:prstGeom>
          <a:solidFill>
            <a:srgbClr val="D9E8F5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79381" y="2578894"/>
            <a:ext cx="1143000" cy="564356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Optimal Assignment (UWB ID -&gt; Tracklet ID)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6500813" y="3993356"/>
            <a:ext cx="1143000" cy="428625"/>
          </a:xfrm>
          <a:prstGeom prst="rect">
            <a:avLst/>
          </a:prstGeom>
          <a:solidFill>
            <a:srgbClr val="D9E8F5"/>
          </a:solidFill>
          <a:ln w="9144">
            <a:solidFill>
              <a:srgbClr val="0000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00813" y="3993356"/>
            <a:ext cx="1143000" cy="428625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</a:rPr>
              <a:t>Final Identified Persons (10 FPS)</a:t>
            </a:r>
            <a:endParaRPr lang="en-US" sz="683" dirty="0"/>
          </a:p>
        </p:txBody>
      </p:sp>
      <p:sp>
        <p:nvSpPr>
          <p:cNvPr id="34" name="Shape 31"/>
          <p:cNvSpPr/>
          <p:nvPr/>
        </p:nvSpPr>
        <p:spPr>
          <a:xfrm>
            <a:off x="5143500" y="2743200"/>
            <a:ext cx="978917" cy="1160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5143500" y="2743200"/>
            <a:ext cx="978917" cy="116086"/>
          </a:xfrm>
          <a:prstGeom prst="rect">
            <a:avLst/>
          </a:prstGeom>
          <a:noFill/>
          <a:ln/>
        </p:spPr>
        <p:txBody>
          <a:bodyPr wrap="none" lIns="25527" tIns="0" rIns="25527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UKF States (Pos + Cov)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5143500" y="3243263"/>
            <a:ext cx="614921" cy="1160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5143500" y="3243263"/>
            <a:ext cx="614921" cy="116086"/>
          </a:xfrm>
          <a:prstGeom prst="rect">
            <a:avLst/>
          </a:prstGeom>
          <a:noFill/>
          <a:ln/>
        </p:spPr>
        <p:txBody>
          <a:bodyPr wrap="none" lIns="25527" tIns="0" rIns="25527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Tracklet Data</a:t>
            </a:r>
            <a:endParaRPr lang="en-US" sz="584" dirty="0"/>
          </a:p>
        </p:txBody>
      </p:sp>
      <p:sp>
        <p:nvSpPr>
          <p:cNvPr id="38" name="Shape 35"/>
          <p:cNvSpPr/>
          <p:nvPr/>
        </p:nvSpPr>
        <p:spPr>
          <a:xfrm>
            <a:off x="6143625" y="3636169"/>
            <a:ext cx="901229" cy="11608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6143625" y="3636169"/>
            <a:ext cx="901229" cy="116086"/>
          </a:xfrm>
          <a:prstGeom prst="rect">
            <a:avLst/>
          </a:prstGeom>
          <a:noFill/>
          <a:ln/>
        </p:spPr>
        <p:txBody>
          <a:bodyPr wrap="none" lIns="25527" tIns="0" rIns="25527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B35"/>
                </a:solidFill>
              </a:rPr>
              <a:t>Assignment (10 FPS)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0" y="4564856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Visual representation of the real-time inference pipeline executed every frame (30 FPS). Data flows from asynchronous sources through multi-person tracking to final identification (10 FPS).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024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Implementation: Multi-Person Tracker</a:t>
            </a:r>
            <a:endParaRPr lang="en-US" sz="1808" dirty="0"/>
          </a:p>
        </p:txBody>
      </p:sp>
      <p:sp>
        <p:nvSpPr>
          <p:cNvPr id="6" name="Text 3"/>
          <p:cNvSpPr/>
          <p:nvPr/>
        </p:nvSpPr>
        <p:spPr>
          <a:xfrm>
            <a:off x="571500" y="1064419"/>
            <a:ext cx="3857625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Class Overview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571500" y="1451967"/>
            <a:ext cx="3857625" cy="59293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656" y="155912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Class Name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78656" y="1752005"/>
            <a:ext cx="36433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MultiPersonTracker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" y="2137767"/>
            <a:ext cx="3857625" cy="76438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8656" y="224492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Core Structure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678656" y="2437805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Dictionary of StreamingUWBUKF2D instances, keyed by UWB ID (101, 102, ...)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571500" y="2995017"/>
            <a:ext cx="3857625" cy="912949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656" y="3102173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State Vector (4D)</a:t>
            </a:r>
            <a:endParaRPr lang="en-US" sz="683" dirty="0"/>
          </a:p>
        </p:txBody>
      </p:sp>
      <p:sp>
        <p:nvSpPr>
          <p:cNvPr id="15" name="Shape 12"/>
          <p:cNvSpPr/>
          <p:nvPr/>
        </p:nvSpPr>
        <p:spPr>
          <a:xfrm>
            <a:off x="678656" y="3295055"/>
            <a:ext cx="3643313" cy="49146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Shape 13"/>
          <p:cNvSpPr/>
          <p:nvPr/>
        </p:nvSpPr>
        <p:spPr>
          <a:xfrm>
            <a:off x="678656" y="3295055"/>
            <a:ext cx="21431" cy="4914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7" name="Text 14"/>
          <p:cNvSpPr/>
          <p:nvPr/>
        </p:nvSpPr>
        <p:spPr>
          <a:xfrm>
            <a:off x="678656" y="3295055"/>
            <a:ext cx="3643313" cy="49146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s = (x, v_x, y, v_y)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Position + Velocity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4000835"/>
            <a:ext cx="3857625" cy="76438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8656" y="4107991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UWB Update Trigger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78656" y="4300872"/>
            <a:ext cx="36433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Only when new UWB measurement arrives (3 FPS). Uses UWB position as observation.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714875" y="1064419"/>
            <a:ext cx="3857625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Operational Flow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4714875" y="1451967"/>
            <a:ext cx="3857625" cy="83760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2031" y="1559123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predict_all(frame, timestamp)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822031" y="1785938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Runs for all active UKF instances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822031" y="2012752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Executes every frame (30 FPS)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4714875" y="2382441"/>
            <a:ext cx="3857625" cy="837605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22031" y="1559123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822031" y="1785938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822031" y="2012752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822031" y="2489597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update_all_uwb(uwb_measurements)</a:t>
            </a:r>
            <a:endParaRPr lang="en-US" sz="834" dirty="0"/>
          </a:p>
        </p:txBody>
      </p:sp>
      <p:sp>
        <p:nvSpPr>
          <p:cNvPr id="31" name="Text 28"/>
          <p:cNvSpPr/>
          <p:nvPr/>
        </p:nvSpPr>
        <p:spPr>
          <a:xfrm>
            <a:off x="4822031" y="2716411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Updates only when UWB data available</a:t>
            </a:r>
            <a:endParaRPr lang="en-US" sz="834" dirty="0"/>
          </a:p>
        </p:txBody>
      </p:sp>
      <p:sp>
        <p:nvSpPr>
          <p:cNvPr id="32" name="Text 29"/>
          <p:cNvSpPr/>
          <p:nvPr/>
        </p:nvSpPr>
        <p:spPr>
          <a:xfrm>
            <a:off x="4822031" y="2943225"/>
            <a:ext cx="3643313" cy="15537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Corrects predicted state with measurement</a:t>
            </a:r>
            <a:endParaRPr lang="en-US" sz="834" dirty="0"/>
          </a:p>
        </p:txBody>
      </p:sp>
      <p:sp>
        <p:nvSpPr>
          <p:cNvPr id="33" name="Shape 30"/>
          <p:cNvSpPr/>
          <p:nvPr/>
        </p:nvSpPr>
        <p:spPr>
          <a:xfrm>
            <a:off x="4714875" y="3312914"/>
            <a:ext cx="3857625" cy="935831"/>
          </a:xfrm>
          <a:prstGeom prst="rect">
            <a:avLst/>
          </a:prstGeom>
          <a:solidFill>
            <a:srgbClr val="F9F9F9"/>
          </a:solidFill>
          <a:ln w="9144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22031" y="2489597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822031" y="2716411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822031" y="2943225"/>
            <a:ext cx="114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→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4822031" y="3420070"/>
            <a:ext cx="36433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7ACC"/>
                </a:solidFill>
              </a:rPr>
              <a:t>Occlusion Handling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4822031" y="3612952"/>
            <a:ext cx="36433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When person leaves frame, UKF continues predicting. Covariance grows, reflecting increased uncertainty. Identity maintained until re-entry.</a:t>
            </a:r>
            <a:endParaRPr lang="en-US" sz="834" dirty="0"/>
          </a:p>
        </p:txBody>
      </p:sp>
      <p:sp>
        <p:nvSpPr>
          <p:cNvPr id="39" name="Text 36"/>
          <p:cNvSpPr/>
          <p:nvPr/>
        </p:nvSpPr>
        <p:spPr>
          <a:xfrm>
            <a:off x="0" y="5179554"/>
            <a:ext cx="9144000" cy="365727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Each UWB tag maintains its own UKF instance, enabling independent, parallel tracking of multiple persons with automatic identity preservation during occlusions.</a:t>
            </a:r>
            <a:endParaRPr lang="en-US" sz="8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0341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Implementation: Real-Time Matching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8644" y="1071563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21519" y="1214438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Matching Rate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21519" y="142696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Runs at 10 FPS (every 3 frames) to reduce computational load and increase temporal stability.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8644" y="2047019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721519" y="2189894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Sliding Window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21519" y="2402421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Similarity calculated over 1-second window (30 frames) of recent data, not entire trajectory.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8644" y="3022476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21519" y="3165351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Cost Function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21519" y="3377878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Mahalanobis Distance D(p_i, p_j) weighted by UKF covariance matrix.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578644" y="3997933"/>
            <a:ext cx="35719" cy="81829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721519" y="4140808"/>
            <a:ext cx="3557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LAP Feasibility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721519" y="4353334"/>
            <a:ext cx="355758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Infinite costs replaced with MAX_COST (1000.0) to ensure solver convergence.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722019" y="1071563"/>
            <a:ext cx="35719" cy="1777008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19" name="Text 16"/>
          <p:cNvSpPr/>
          <p:nvPr/>
        </p:nvSpPr>
        <p:spPr>
          <a:xfrm>
            <a:off x="4900613" y="1250156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Mahalanobis Distance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900613" y="1512689"/>
            <a:ext cx="3486150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D = √[(p_uwb - p_cam)ᵀ × Σ⁻¹ × (p_uwb - p_cam)]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where: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p_uwb = UKF position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p_cam = Camera position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Σ = UKF covariance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4722019" y="3005733"/>
            <a:ext cx="35719" cy="1584127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2" name="Text 19"/>
          <p:cNvSpPr/>
          <p:nvPr/>
        </p:nvSpPr>
        <p:spPr>
          <a:xfrm>
            <a:off x="4900613" y="3184327"/>
            <a:ext cx="3486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ACC"/>
                </a:solidFill>
              </a:rPr>
              <a:t>Similarity Score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900613" y="3446859"/>
            <a:ext cx="3486150" cy="9644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Similarity = 1/(1 + D)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Range: [0, 1]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1.0 = Perfect match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 • 0.0 = No match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0" y="5037683"/>
            <a:ext cx="9144000" cy="365727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just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The RealTimeTrajectoryMatcher solves the Linear Assignment Problem (LAP) using the Hungarian algorithm to find the optimal one-to-one match between all active UWB tags and all visible camera tracklets, maximizing total similarity while maintaining real-time performance.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060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Key Features and Robustness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85788" y="107870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64381" y="1328738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✓ Multiple Targets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64381" y="1589484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Simultaneously tracks and identifies multiple UWB-tagged persons with independent trajectories and assignments.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4693444" y="107870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872038" y="1328738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→ Late Arrivals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872038" y="1589484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Dynamically initializes tracking for persons entering the scene after the system starts, with automatic UKF convergence.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85788" y="235386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64381" y="2603897"/>
            <a:ext cx="3507581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◆ Independent Occlusions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764381" y="2864644"/>
            <a:ext cx="350758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Handles each person's occlusion independently. UKF continues predicting while maintaining identity during temporary frame absence.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4693444" y="2353866"/>
            <a:ext cx="3864769" cy="28575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872038" y="2696766"/>
            <a:ext cx="35075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7ACC"/>
                </a:solidFill>
              </a:rPr>
              <a:t>✗ Distractor Rejection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872038" y="2943225"/>
            <a:ext cx="35075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Correctly rejects camera tracklets without UWB tags, preventing false assignments to non-opted-in persons.</a:t>
            </a:r>
            <a:endParaRPr lang="en-US" sz="834" dirty="0"/>
          </a:p>
        </p:txBody>
      </p:sp>
      <p:sp>
        <p:nvSpPr>
          <p:cNvPr id="18" name="Text 15"/>
          <p:cNvSpPr/>
          <p:nvPr/>
        </p:nvSpPr>
        <p:spPr>
          <a:xfrm>
            <a:off x="571500" y="4000500"/>
            <a:ext cx="8001000" cy="194667"/>
          </a:xfrm>
          <a:prstGeom prst="rect">
            <a:avLst/>
          </a:prstGeom>
          <a:noFill/>
          <a:ln/>
        </p:spPr>
        <p:txBody>
          <a:bodyPr wrap="none" lIns="127508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Real-Time Performance Metrics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585788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0" name="Text 17"/>
          <p:cNvSpPr/>
          <p:nvPr/>
        </p:nvSpPr>
        <p:spPr>
          <a:xfrm>
            <a:off x="728663" y="4566642"/>
            <a:ext cx="2257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0.95 ms</a:t>
            </a:r>
            <a:endParaRPr lang="en-US" sz="1397" dirty="0"/>
          </a:p>
        </p:txBody>
      </p:sp>
      <p:sp>
        <p:nvSpPr>
          <p:cNvPr id="21" name="Text 18"/>
          <p:cNvSpPr/>
          <p:nvPr/>
        </p:nvSpPr>
        <p:spPr>
          <a:xfrm>
            <a:off x="728663" y="4897041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Avg Frame Time</a:t>
            </a:r>
            <a:endParaRPr lang="en-US" sz="727" dirty="0"/>
          </a:p>
        </p:txBody>
      </p:sp>
      <p:sp>
        <p:nvSpPr>
          <p:cNvPr id="22" name="Shape 19"/>
          <p:cNvSpPr/>
          <p:nvPr/>
        </p:nvSpPr>
        <p:spPr>
          <a:xfrm>
            <a:off x="3300413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3" name="Text 20"/>
          <p:cNvSpPr/>
          <p:nvPr/>
        </p:nvSpPr>
        <p:spPr>
          <a:xfrm>
            <a:off x="3443288" y="4566642"/>
            <a:ext cx="225742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33.33 ms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3443288" y="4897041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30 FPS Budget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6015038" y="4352330"/>
            <a:ext cx="2543175" cy="28575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26" name="Text 23"/>
          <p:cNvSpPr/>
          <p:nvPr/>
        </p:nvSpPr>
        <p:spPr>
          <a:xfrm>
            <a:off x="6157913" y="4566642"/>
            <a:ext cx="22574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7ACC"/>
                </a:solidFill>
              </a:rPr>
              <a:t>✓ MET</a:t>
            </a:r>
            <a:endParaRPr lang="en-US" sz="1397" dirty="0"/>
          </a:p>
        </p:txBody>
      </p:sp>
      <p:sp>
        <p:nvSpPr>
          <p:cNvPr id="27" name="Text 24"/>
          <p:cNvSpPr/>
          <p:nvPr/>
        </p:nvSpPr>
        <p:spPr>
          <a:xfrm>
            <a:off x="6157913" y="4913114"/>
            <a:ext cx="22574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Real-Time Status</a:t>
            </a: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8625" y="428625"/>
            <a:ext cx="35719" cy="350044"/>
          </a:xfrm>
          <a:prstGeom prst="rect">
            <a:avLst/>
          </a:prstGeom>
          <a:solidFill>
            <a:srgbClr val="007ACC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428625"/>
            <a:ext cx="8715375" cy="350044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0000"/>
                </a:solidFill>
              </a:rPr>
              <a:t>Conclusion: Innovation and Impact</a:t>
            </a:r>
            <a:endParaRPr lang="en-US" sz="1808" dirty="0"/>
          </a:p>
        </p:txBody>
      </p:sp>
      <p:sp>
        <p:nvSpPr>
          <p:cNvPr id="6" name="Shape 3"/>
          <p:cNvSpPr/>
          <p:nvPr/>
        </p:nvSpPr>
        <p:spPr>
          <a:xfrm>
            <a:off x="578644" y="107156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4"/>
          <p:cNvSpPr/>
          <p:nvPr/>
        </p:nvSpPr>
        <p:spPr>
          <a:xfrm>
            <a:off x="792956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Decoupled Architecture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792956" y="1551980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High-rate UKF tracking (30 FPS) decoupled from lower-rate LAP identification (10 FPS) optimizes both latency and stability.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722019" y="107156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7"/>
          <p:cNvSpPr/>
          <p:nvPr/>
        </p:nvSpPr>
        <p:spPr>
          <a:xfrm>
            <a:off x="4936331" y="1285875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Robust Multi-Target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4936331" y="1551980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Successfully handles multiple simultaneous targets, late arrivals, independent occlusions, and distractor tracklets.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578644" y="264497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92956" y="2955727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Real-Time Performance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792956" y="3221831"/>
            <a:ext cx="34147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Average processing time of 0.95 ms per frame, well below the 33.33 ms constraint for 30 FPS operation.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4722019" y="2644973"/>
            <a:ext cx="3843338" cy="35719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4936331" y="2859286"/>
            <a:ext cx="341471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7ACC"/>
                </a:solidFill>
              </a:rPr>
              <a:t>Privacy-Preserving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4936331" y="3125391"/>
            <a:ext cx="34147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Records only individuals who explicitly consent via UWB tag opt-in, ensuring privacy compliance and ethical deployment.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0" y="4354116"/>
            <a:ext cx="9144000" cy="411435"/>
          </a:xfrm>
          <a:prstGeom prst="rect">
            <a:avLst/>
          </a:prstGeom>
          <a:noFill/>
          <a:ln/>
        </p:spPr>
        <p:txBody>
          <a:bodyPr wrap="square" lIns="680339" tIns="0" rIns="680339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The decoupled architecture provides a robust, scalable solution for privacy-preserving person identification in dynamic, real-world scenarios. Ready for deployment on vehicle-mounted platforms and edge devices.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2025-12-05T02:42:17Z</dcterms:created>
  <dcterms:modified xsi:type="dcterms:W3CDTF">2025-12-05T02:42:17Z</dcterms:modified>
</cp:coreProperties>
</file>